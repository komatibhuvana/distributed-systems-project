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  <p:sldMasterId id="2147483666" r:id="rId2"/>
  </p:sldMasterIdLst>
  <p:notesMasterIdLst>
    <p:notesMasterId r:id="rId4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DDC561-AF27-4307-BC86-DF18F720981C}">
  <a:tblStyle styleId="{B9DDC561-AF27-4307-BC86-DF18F72098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DC0DDD7-A2B3-47B2-A35C-B710F065B0F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DF61DBB-3150-42DC-BFF4-E4E6194877F5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94694"/>
  </p:normalViewPr>
  <p:slideViewPr>
    <p:cSldViewPr snapToGrid="0">
      <p:cViewPr varScale="1">
        <p:scale>
          <a:sx n="161" d="100"/>
          <a:sy n="161" d="100"/>
        </p:scale>
        <p:origin x="1160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3cc0b2d3e_2_34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81"/>
          </a:xfrm>
          <a:prstGeom prst="rect">
            <a:avLst/>
          </a:prstGeom>
        </p:spPr>
        <p:txBody>
          <a:bodyPr spcFirstLastPara="1" wrap="square" lIns="52500" tIns="52500" rIns="52500" bIns="52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a3cc0b2d3e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3cc0b2d3e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3cc0b2d3e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3cc0b2d3e_19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3cc0b2d3e_19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3cc0b2d3e_19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3cc0b2d3e_19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3cc0b2d3e_19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3cc0b2d3e_19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3cc0b2d3e_2_58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81"/>
          </a:xfrm>
          <a:prstGeom prst="rect">
            <a:avLst/>
          </a:prstGeom>
        </p:spPr>
        <p:txBody>
          <a:bodyPr spcFirstLastPara="1" wrap="square" lIns="52500" tIns="52500" rIns="52500" bIns="52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a3cc0b2d3e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3cc0b2d3e_19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3cc0b2d3e_19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3cc0b2d3e_19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3cc0b2d3e_19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3cc0b2d3e_19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3cc0b2d3e_19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3cc0b2d3e_19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3cc0b2d3e_19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3cc0b2d3e_19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3cc0b2d3e_19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3cc0b2d3e_2_77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81"/>
          </a:xfrm>
          <a:prstGeom prst="rect">
            <a:avLst/>
          </a:prstGeom>
        </p:spPr>
        <p:txBody>
          <a:bodyPr spcFirstLastPara="1" wrap="square" lIns="52500" tIns="52500" rIns="52500" bIns="52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a3cc0b2d3e_2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0944" y="685781"/>
            <a:ext cx="453677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3cc0b2d3e_19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3cc0b2d3e_19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3cc0b2d3e_19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3cc0b2d3e_19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3cc0b2d3e_19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3cc0b2d3e_19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3cc0b2d3e_19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3cc0b2d3e_19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3cc0b2d3e_19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3cc0b2d3e_19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3cc0b2d3e_2_97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81"/>
          </a:xfrm>
          <a:prstGeom prst="rect">
            <a:avLst/>
          </a:prstGeom>
        </p:spPr>
        <p:txBody>
          <a:bodyPr spcFirstLastPara="1" wrap="square" lIns="52500" tIns="52500" rIns="52500" bIns="52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a3cc0b2d3e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0944" y="685781"/>
            <a:ext cx="453677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3cc0b2d3e_2_154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81"/>
          </a:xfrm>
          <a:prstGeom prst="rect">
            <a:avLst/>
          </a:prstGeom>
        </p:spPr>
        <p:txBody>
          <a:bodyPr spcFirstLastPara="1" wrap="square" lIns="52500" tIns="52500" rIns="52500" bIns="52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3a3cc0b2d3e_2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0944" y="685781"/>
            <a:ext cx="453677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3cc0b2d3e_2_146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81"/>
          </a:xfrm>
          <a:prstGeom prst="rect">
            <a:avLst/>
          </a:prstGeom>
        </p:spPr>
        <p:txBody>
          <a:bodyPr spcFirstLastPara="1" wrap="square" lIns="52500" tIns="52500" rIns="52500" bIns="52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a3cc0b2d3e_2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3cc0b2d3e_2_187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81"/>
          </a:xfrm>
          <a:prstGeom prst="rect">
            <a:avLst/>
          </a:prstGeom>
        </p:spPr>
        <p:txBody>
          <a:bodyPr spcFirstLastPara="1" wrap="square" lIns="52500" tIns="52500" rIns="52500" bIns="52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3a3cc0b2d3e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3cc0b2d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3cc0b2d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3cc0b2d3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3cc0b2d3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3cc0b2d3e_0_43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3cc0b2d3e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a3cc0b2d3e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3cc0b2d3e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a3cc0b2d3e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3cc0b2d3e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3cc0b2d3e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3cc0b2d3e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3cc0b2d3e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3cc0b2d3e_2_193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81"/>
          </a:xfrm>
          <a:prstGeom prst="rect">
            <a:avLst/>
          </a:prstGeom>
        </p:spPr>
        <p:txBody>
          <a:bodyPr spcFirstLastPara="1" wrap="square" lIns="52500" tIns="52500" rIns="52500" bIns="52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3a3cc0b2d3e_2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0944" y="685781"/>
            <a:ext cx="453677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3cc0b2d3e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a3cc0b2d3e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3cc0b2d3e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a3cc0b2d3e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3cc0b2d3e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3cc0b2d3e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3cc0b2d3e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a3cc0b2d3e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3cc0b2d3e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3cc0b2d3e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3cc0b2d3e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a3cc0b2d3e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3cc0b2d3e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a3cc0b2d3e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3cc0b2d3e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3cc0b2d3e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3cc0b2d3e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a3cc0b2d3e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3cc0b2d3e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a3cc0b2d3e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af8803216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af8803216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f8803216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f8803216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f8803216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af88032165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a3cc0b2d3e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a3cc0b2d3e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3cc0b2d3e_2_223:notes"/>
          <p:cNvSpPr txBox="1">
            <a:spLocks noGrp="1"/>
          </p:cNvSpPr>
          <p:nvPr>
            <p:ph type="body" idx="1"/>
          </p:nvPr>
        </p:nvSpPr>
        <p:spPr>
          <a:xfrm>
            <a:off x="685792" y="4343391"/>
            <a:ext cx="5486396" cy="4114781"/>
          </a:xfrm>
          <a:prstGeom prst="rect">
            <a:avLst/>
          </a:prstGeom>
        </p:spPr>
        <p:txBody>
          <a:bodyPr spcFirstLastPara="1" wrap="square" lIns="52500" tIns="52500" rIns="52500" bIns="52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3a3cc0b2d3e_2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0944" y="685781"/>
            <a:ext cx="453677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4_1_TITLEANDBULLETS_A">
  <p:cSld name="CUSTOM_1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3035838" y="1471024"/>
            <a:ext cx="3173100" cy="3173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256050" y="253350"/>
            <a:ext cx="8631900" cy="8505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/>
          <p:nvPr/>
        </p:nvSpPr>
        <p:spPr>
          <a:xfrm>
            <a:off x="256062" y="120584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256062" y="330896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6382542" y="120512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1088166" y="1250719"/>
            <a:ext cx="1664100" cy="153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3"/>
          </p:nvPr>
        </p:nvSpPr>
        <p:spPr>
          <a:xfrm>
            <a:off x="7223790" y="1249991"/>
            <a:ext cx="1664100" cy="153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4"/>
          </p:nvPr>
        </p:nvSpPr>
        <p:spPr>
          <a:xfrm>
            <a:off x="7223790" y="3353111"/>
            <a:ext cx="1664100" cy="153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cxnSp>
        <p:nvCxnSpPr>
          <p:cNvPr id="65" name="Google Shape;65;p14"/>
          <p:cNvCxnSpPr/>
          <p:nvPr/>
        </p:nvCxnSpPr>
        <p:spPr>
          <a:xfrm>
            <a:off x="628506" y="1406957"/>
            <a:ext cx="415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66;p14"/>
          <p:cNvCxnSpPr/>
          <p:nvPr/>
        </p:nvCxnSpPr>
        <p:spPr>
          <a:xfrm>
            <a:off x="628506" y="3509382"/>
            <a:ext cx="415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67;p14"/>
          <p:cNvCxnSpPr/>
          <p:nvPr/>
        </p:nvCxnSpPr>
        <p:spPr>
          <a:xfrm>
            <a:off x="6760631" y="1406288"/>
            <a:ext cx="415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68;p14"/>
          <p:cNvCxnSpPr/>
          <p:nvPr/>
        </p:nvCxnSpPr>
        <p:spPr>
          <a:xfrm>
            <a:off x="6760631" y="3509407"/>
            <a:ext cx="415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p14"/>
          <p:cNvSpPr txBox="1"/>
          <p:nvPr/>
        </p:nvSpPr>
        <p:spPr>
          <a:xfrm>
            <a:off x="6382546" y="330823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5"/>
          </p:nvPr>
        </p:nvSpPr>
        <p:spPr>
          <a:xfrm>
            <a:off x="1088166" y="3353839"/>
            <a:ext cx="1664100" cy="153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2900" b="0" i="0">
                <a:solidFill>
                  <a:srgbClr val="0505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493466" y="1861613"/>
            <a:ext cx="3956700" cy="29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 sz="1400" b="0" i="0">
                <a:solidFill>
                  <a:srgbClr val="0E0E0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ftr" idx="11"/>
          </p:nvPr>
        </p:nvSpPr>
        <p:spPr>
          <a:xfrm>
            <a:off x="8449421" y="4967010"/>
            <a:ext cx="6591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solidFill>
                  <a:srgbClr val="1C1C1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2900" b="0" i="0">
                <a:solidFill>
                  <a:srgbClr val="0505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ftr" idx="11"/>
          </p:nvPr>
        </p:nvSpPr>
        <p:spPr>
          <a:xfrm>
            <a:off x="8449421" y="4967010"/>
            <a:ext cx="6591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solidFill>
                  <a:srgbClr val="1C1C1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ftr" idx="11"/>
          </p:nvPr>
        </p:nvSpPr>
        <p:spPr>
          <a:xfrm>
            <a:off x="8449421" y="4967010"/>
            <a:ext cx="6591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solidFill>
                  <a:srgbClr val="1C1C1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2900" b="0" i="0">
                <a:solidFill>
                  <a:srgbClr val="0505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1400" b="0" i="0">
                <a:solidFill>
                  <a:srgbClr val="0E0E0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ftr" idx="11"/>
          </p:nvPr>
        </p:nvSpPr>
        <p:spPr>
          <a:xfrm>
            <a:off x="8449421" y="4967010"/>
            <a:ext cx="6591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solidFill>
                  <a:srgbClr val="1C1C1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2900" b="0" i="0">
                <a:solidFill>
                  <a:srgbClr val="0505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ftr" idx="11"/>
          </p:nvPr>
        </p:nvSpPr>
        <p:spPr>
          <a:xfrm>
            <a:off x="8449421" y="4967010"/>
            <a:ext cx="6591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solidFill>
                  <a:srgbClr val="1C1C1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2900" b="0" i="0" u="none" strike="noStrike" cap="none">
                <a:solidFill>
                  <a:srgbClr val="0505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93466" y="1861613"/>
            <a:ext cx="3956700" cy="29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1400" b="0" i="0" u="none" strike="noStrike" cap="none">
                <a:solidFill>
                  <a:srgbClr val="0E0E0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8449421" y="4967010"/>
            <a:ext cx="6591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solidFill>
                  <a:srgbClr val="1C1C1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7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/hjain3004/distributed-systems-project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2.jpg"/><Relationship Id="rId4" Type="http://schemas.openxmlformats.org/officeDocument/2006/relationships/hyperlink" Target="http://drive.google.com/file/d/1XiHinrs2qiqUgHziMF3ckqrruM0QgU8b/view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y.readthedocs.io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126" y="1307612"/>
            <a:ext cx="7611050" cy="196390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 descr="$PPTXTitle"/>
          <p:cNvSpPr txBox="1">
            <a:spLocks noGrp="1"/>
          </p:cNvSpPr>
          <p:nvPr>
            <p:ph type="title"/>
          </p:nvPr>
        </p:nvSpPr>
        <p:spPr>
          <a:xfrm>
            <a:off x="588275" y="91900"/>
            <a:ext cx="7790700" cy="8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625" rIns="0" bIns="0" anchor="t" anchorCtr="0">
            <a:spAutoFit/>
          </a:bodyPr>
          <a:lstStyle/>
          <a:p>
            <a:pPr marL="977900" marR="0" lvl="0" indent="-977900" algn="ctr" rtl="0">
              <a:lnSpc>
                <a:spcPct val="1055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rgbClr val="1C1C18"/>
                </a:solidFill>
              </a:rPr>
              <a:t>Heavy-Tailed Performance Modeling for </a:t>
            </a:r>
            <a:endParaRPr sz="2600" b="1">
              <a:solidFill>
                <a:srgbClr val="1C1C18"/>
              </a:solidFill>
            </a:endParaRPr>
          </a:p>
          <a:p>
            <a:pPr marL="977900" marR="0" lvl="0" indent="-977900" algn="ctr" rtl="0">
              <a:lnSpc>
                <a:spcPct val="1055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rgbClr val="1C1C18"/>
                </a:solidFill>
              </a:rPr>
              <a:t>Cloud Message Queue Systems</a:t>
            </a:r>
            <a:endParaRPr sz="2600"/>
          </a:p>
        </p:txBody>
      </p:sp>
      <p:sp>
        <p:nvSpPr>
          <p:cNvPr id="105" name="Google Shape;105;p20"/>
          <p:cNvSpPr txBox="1"/>
          <p:nvPr/>
        </p:nvSpPr>
        <p:spPr>
          <a:xfrm>
            <a:off x="1016728" y="975696"/>
            <a:ext cx="6846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C1C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Enhanced Analytical and </a:t>
            </a:r>
            <a:r>
              <a:rPr lang="en-GB" sz="1500">
                <a:solidFill>
                  <a:srgbClr val="2D2D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</a:t>
            </a:r>
            <a:r>
              <a:rPr lang="en-GB" sz="1500">
                <a:solidFill>
                  <a:srgbClr val="1C1C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 Extending Li et al.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1414213" y="3325702"/>
            <a:ext cx="2149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D2D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</a:t>
            </a:r>
            <a:r>
              <a:rPr lang="en-GB" sz="1300">
                <a:solidFill>
                  <a:srgbClr val="1C1C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</a:t>
            </a:r>
            <a:r>
              <a:rPr lang="en-GB" sz="1300">
                <a:solidFill>
                  <a:srgbClr val="2D2D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(Exponential)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5373451" y="3364927"/>
            <a:ext cx="2376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D2D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</a:t>
            </a:r>
            <a:r>
              <a:rPr lang="en-GB" sz="1300">
                <a:solidFill>
                  <a:srgbClr val="1C1C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</a:t>
            </a:r>
            <a:r>
              <a:rPr lang="en-GB" sz="1300">
                <a:solidFill>
                  <a:srgbClr val="2D2D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(Heavy-Tailed)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2132113" y="3789558"/>
            <a:ext cx="4335425" cy="70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Team: </a:t>
            </a:r>
            <a:r>
              <a:rPr lang="en-GB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Himanshu Jain (019098794), Bhuvana Komati (019149754)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Distributed Systems (CMPE 273) FALL 2025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Agenda</a:t>
            </a: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588541" y="1200413"/>
            <a:ext cx="3956700" cy="3419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Overview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30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&amp; Motivation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30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Paper Overview (Li et al.)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30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Tandem Queue Model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30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Approach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30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Heavy-Tailed Distributions (The Key Insight)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30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"Reality Gap" Discovery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30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 Risk Analysis (P99 Latency)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30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Systems Integration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30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Pareto Function &amp; Variance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30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30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730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The Challenge of Reliable Cloud Messaging</a:t>
            </a:r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451625" y="1300155"/>
            <a:ext cx="3977700" cy="335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Cloud Systems Must Guarantee: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At-Least-Once Delivery - No message loss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Ordering Guarantees - FIFO or causal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Durability - Survive failures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Low Latency - Meet SLAs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Hidden Problem Chain: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failures → Retransmissions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Retransmissions → Extra load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 load → Queue buildup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buildup → </a:t>
            </a: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SLA violations!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2"/>
          </p:nvPr>
        </p:nvSpPr>
        <p:spPr>
          <a:xfrm>
            <a:off x="4709150" y="1183003"/>
            <a:ext cx="2141400" cy="1171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Modeling Gap: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4956925" y="1619250"/>
          <a:ext cx="2837475" cy="1905000"/>
        </p:xfrm>
        <a:graphic>
          <a:graphicData uri="http://schemas.openxmlformats.org/drawingml/2006/table">
            <a:tbl>
              <a:tblPr>
                <a:noFill/>
                <a:tableStyleId>{B9DDC561-AF27-4307-BC86-DF18F720981C}</a:tableStyleId>
              </a:tblPr>
              <a:tblGrid>
                <a:gridCol w="14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Models Assume</a:t>
                      </a:r>
                      <a:endParaRPr sz="9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Reality Shows</a:t>
                      </a:r>
                      <a:endParaRPr sz="9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Exponential Distribution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Heavy-Tailed (Pareto)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Jobs are similar size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small, rare HUGE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Predictable variance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Extreme outliers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Nice math properties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big job blocks all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Real-World Evidence of Heavy Tails</a:t>
            </a:r>
            <a:endParaRPr/>
          </a:p>
        </p:txBody>
      </p:sp>
      <p:graphicFrame>
        <p:nvGraphicFramePr>
          <p:cNvPr id="128" name="Google Shape;128;p23"/>
          <p:cNvGraphicFramePr/>
          <p:nvPr/>
        </p:nvGraphicFramePr>
        <p:xfrm>
          <a:off x="2077075" y="800250"/>
          <a:ext cx="5077175" cy="1720193"/>
        </p:xfrm>
        <a:graphic>
          <a:graphicData uri="http://schemas.openxmlformats.org/drawingml/2006/table">
            <a:tbl>
              <a:tblPr>
                <a:noFill/>
                <a:tableStyleId>{DDC0DDD7-A2B3-47B2-A35C-B710F065B0F2}</a:tableStyleId>
              </a:tblPr>
              <a:tblGrid>
                <a:gridCol w="138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Starbucks (Model)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DMV (Reality)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Cloud Systems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Black coffee: 2 min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License renewal: 10 min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API calls: 50ms (95%)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Latte: 3 min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Registration: 15 min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DB queries: 10ms (90%)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Frappuccino: 4 min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transfer: 30 min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Video encode: 60s (1%)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Max: ~5 min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Fleet of 50 trucks: 4 HOURS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 training: 30min (0.1%)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9" name="Google Shape;129;p23"/>
          <p:cNvGraphicFramePr/>
          <p:nvPr/>
        </p:nvGraphicFramePr>
        <p:xfrm>
          <a:off x="1720025" y="3150350"/>
          <a:ext cx="6418825" cy="1720129"/>
        </p:xfrm>
        <a:graphic>
          <a:graphicData uri="http://schemas.openxmlformats.org/drawingml/2006/table">
            <a:tbl>
              <a:tblPr>
                <a:noFill/>
                <a:tableStyleId>{DDC0DDD7-A2B3-47B2-A35C-B710F065B0F2}</a:tableStyleId>
              </a:tblPr>
              <a:tblGrid>
                <a:gridCol w="132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5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Company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P50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P99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Ratio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Amazon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DynamoDB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5ms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50ms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10x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Google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Bigtable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10ms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100ms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10x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Netflix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Streaming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20ms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500ms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25x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 Simulation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Pareto α=2.5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58ms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2,100ms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36x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0" name="Google Shape;130;p23"/>
          <p:cNvSpPr txBox="1"/>
          <p:nvPr/>
        </p:nvSpPr>
        <p:spPr>
          <a:xfrm>
            <a:off x="758675" y="26302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Evidence: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 et al. - Base Paper Overview</a:t>
            </a:r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09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Paper Details: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"Modeling Message Queueing Services with Reliability Guarantee in Cloud Computing Environment Using Colored Petri Nets"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Authors: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Li, Cui, Ma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Journal: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Mathematical Problems in Engineering.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Citations: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50+ (influential in cloud modeling)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Contributions: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2984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Tandem Queue Model - Two-stage architecture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Traffic Inflation Formula - Λ₂ = λ/(1-p)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CPN Verification - Formal proofs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Performance Formulas - Latency, queue length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2"/>
          </p:nvPr>
        </p:nvSpPr>
        <p:spPr>
          <a:xfrm>
            <a:off x="4685535" y="1523280"/>
            <a:ext cx="3977700" cy="2339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Paper's Assumptions: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M/M/N: Exponential arrivals &amp; service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Homogeneous: All servers identical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 D: Fixed network delay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Bernoulli p: IID failure probability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Paper's Limitations (What We Address):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No heavy-tailed analysis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Homogeneous servers only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No threading model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Limited to CPN tools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Google Shape;142;p25"/>
          <p:cNvGraphicFramePr/>
          <p:nvPr/>
        </p:nvGraphicFramePr>
        <p:xfrm>
          <a:off x="5475024" y="2299167"/>
          <a:ext cx="3170400" cy="531584"/>
        </p:xfrm>
        <a:graphic>
          <a:graphicData uri="http://schemas.openxmlformats.org/drawingml/2006/table">
            <a:tbl>
              <a:tblPr firstRow="1" bandRow="1">
                <a:noFill/>
                <a:tableStyleId>{CDF61DBB-3150-42DC-BFF4-E4E6194877F5}</a:tableStyleId>
              </a:tblPr>
              <a:tblGrid>
                <a:gridCol w="73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9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475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651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>
                          <a:solidFill>
                            <a:srgbClr val="28282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Sender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550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25400" lvl="0" indent="0" algn="r" rtl="0">
                        <a:lnSpc>
                          <a:spcPct val="838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4450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75025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905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>
                          <a:solidFill>
                            <a:srgbClr val="28282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</a:t>
                      </a:r>
                      <a:r>
                        <a:rPr lang="en-GB" sz="1000" u="none" strike="noStrike" cap="none">
                          <a:solidFill>
                            <a:srgbClr val="0C0C0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lang="en-GB" sz="1000" u="none" strike="noStrike" cap="none">
                          <a:solidFill>
                            <a:srgbClr val="28282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550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8100" marR="0" lvl="0" indent="0" algn="ctr" rtl="0">
                        <a:lnSpc>
                          <a:spcPct val="618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>
                          <a:solidFill>
                            <a:srgbClr val="4450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980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>
                          <a:solidFill>
                            <a:srgbClr val="28282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</a:t>
                      </a:r>
                      <a:r>
                        <a:rPr lang="en-GB" sz="1000" u="none" strike="noStrike" cap="none">
                          <a:solidFill>
                            <a:srgbClr val="0C0C0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GB" sz="1000" u="none" strike="noStrike" cap="none">
                          <a:solidFill>
                            <a:srgbClr val="28282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880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>
                          <a:solidFill>
                            <a:srgbClr val="233B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,-</a:t>
                      </a:r>
                      <a:r>
                        <a:rPr lang="en-GB" sz="1000" u="none" strike="noStrike" cap="none">
                          <a:solidFill>
                            <a:srgbClr val="4450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en-GB" sz="1000" u="none" strike="noStrike" cap="none">
                          <a:solidFill>
                            <a:srgbClr val="233B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➔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74675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203200" lvl="0" indent="0" algn="just" rtl="0">
                        <a:lnSpc>
                          <a:spcPct val="99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00" u="none" strike="noStrike" cap="none">
                          <a:solidFill>
                            <a:srgbClr val="4450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I I</a:t>
                      </a:r>
                      <a:endParaRPr sz="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55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" name="Google Shape;143;p25"/>
          <p:cNvSpPr/>
          <p:nvPr/>
        </p:nvSpPr>
        <p:spPr>
          <a:xfrm>
            <a:off x="5485021" y="2807444"/>
            <a:ext cx="0" cy="47216"/>
          </a:xfrm>
          <a:custGeom>
            <a:avLst/>
            <a:gdLst/>
            <a:ahLst/>
            <a:cxnLst/>
            <a:rect l="l" t="t" r="r" b="b"/>
            <a:pathLst>
              <a:path w="120000" h="89535" extrusionOk="0">
                <a:moveTo>
                  <a:pt x="0" y="89362"/>
                </a:moveTo>
                <a:lnTo>
                  <a:pt x="0" y="0"/>
                </a:lnTo>
              </a:path>
            </a:pathLst>
          </a:custGeom>
          <a:noFill/>
          <a:ln w="25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44" name="Google Shape;144;p25"/>
          <p:cNvSpPr/>
          <p:nvPr/>
        </p:nvSpPr>
        <p:spPr>
          <a:xfrm>
            <a:off x="6224799" y="2807444"/>
            <a:ext cx="0" cy="47216"/>
          </a:xfrm>
          <a:custGeom>
            <a:avLst/>
            <a:gdLst/>
            <a:ahLst/>
            <a:cxnLst/>
            <a:rect l="l" t="t" r="r" b="b"/>
            <a:pathLst>
              <a:path w="120000" h="89535" extrusionOk="0">
                <a:moveTo>
                  <a:pt x="0" y="89362"/>
                </a:moveTo>
                <a:lnTo>
                  <a:pt x="0" y="0"/>
                </a:lnTo>
              </a:path>
            </a:pathLst>
          </a:custGeom>
          <a:noFill/>
          <a:ln w="25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45" name="Google Shape;145;p25"/>
          <p:cNvSpPr/>
          <p:nvPr/>
        </p:nvSpPr>
        <p:spPr>
          <a:xfrm>
            <a:off x="6677996" y="2814176"/>
            <a:ext cx="0" cy="40518"/>
          </a:xfrm>
          <a:custGeom>
            <a:avLst/>
            <a:gdLst/>
            <a:ahLst/>
            <a:cxnLst/>
            <a:rect l="l" t="t" r="r" b="b"/>
            <a:pathLst>
              <a:path w="120000" h="76835" extrusionOk="0">
                <a:moveTo>
                  <a:pt x="0" y="76596"/>
                </a:moveTo>
                <a:lnTo>
                  <a:pt x="0" y="0"/>
                </a:lnTo>
              </a:path>
            </a:pathLst>
          </a:custGeom>
          <a:noFill/>
          <a:ln w="25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46" name="Google Shape;146;p25"/>
          <p:cNvSpPr/>
          <p:nvPr/>
        </p:nvSpPr>
        <p:spPr>
          <a:xfrm>
            <a:off x="7431103" y="2807444"/>
            <a:ext cx="0" cy="47216"/>
          </a:xfrm>
          <a:custGeom>
            <a:avLst/>
            <a:gdLst/>
            <a:ahLst/>
            <a:cxnLst/>
            <a:rect l="l" t="t" r="r" b="b"/>
            <a:pathLst>
              <a:path w="120000" h="89535" extrusionOk="0">
                <a:moveTo>
                  <a:pt x="0" y="89362"/>
                </a:moveTo>
                <a:lnTo>
                  <a:pt x="0" y="0"/>
                </a:lnTo>
              </a:path>
            </a:pathLst>
          </a:custGeom>
          <a:noFill/>
          <a:ln w="25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47" name="Google Shape;147;p25"/>
          <p:cNvSpPr/>
          <p:nvPr/>
        </p:nvSpPr>
        <p:spPr>
          <a:xfrm>
            <a:off x="7877637" y="2814176"/>
            <a:ext cx="0" cy="40518"/>
          </a:xfrm>
          <a:custGeom>
            <a:avLst/>
            <a:gdLst/>
            <a:ahLst/>
            <a:cxnLst/>
            <a:rect l="l" t="t" r="r" b="b"/>
            <a:pathLst>
              <a:path w="120000" h="76835" extrusionOk="0">
                <a:moveTo>
                  <a:pt x="0" y="76596"/>
                </a:moveTo>
                <a:lnTo>
                  <a:pt x="0" y="0"/>
                </a:lnTo>
              </a:path>
            </a:pathLst>
          </a:custGeom>
          <a:noFill/>
          <a:ln w="25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48" name="Google Shape;148;p25"/>
          <p:cNvSpPr/>
          <p:nvPr/>
        </p:nvSpPr>
        <p:spPr>
          <a:xfrm>
            <a:off x="8637409" y="2807444"/>
            <a:ext cx="0" cy="47216"/>
          </a:xfrm>
          <a:custGeom>
            <a:avLst/>
            <a:gdLst/>
            <a:ahLst/>
            <a:cxnLst/>
            <a:rect l="l" t="t" r="r" b="b"/>
            <a:pathLst>
              <a:path w="120000" h="89535" extrusionOk="0">
                <a:moveTo>
                  <a:pt x="0" y="89362"/>
                </a:moveTo>
                <a:lnTo>
                  <a:pt x="0" y="0"/>
                </a:lnTo>
              </a:path>
            </a:pathLst>
          </a:custGeom>
          <a:noFill/>
          <a:ln w="25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49" name="Google Shape;149;p25" descr="$PPTXTitle"/>
          <p:cNvSpPr txBox="1">
            <a:spLocks noGrp="1"/>
          </p:cNvSpPr>
          <p:nvPr>
            <p:ph type="title"/>
          </p:nvPr>
        </p:nvSpPr>
        <p:spPr>
          <a:xfrm>
            <a:off x="260423" y="85841"/>
            <a:ext cx="80205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6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 b="1" dirty="0">
                <a:solidFill>
                  <a:srgbClr val="0C0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Foundation: What Li et al. (2015) Established</a:t>
            </a:r>
            <a:endParaRPr sz="3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609943" y="1069773"/>
            <a:ext cx="4452716" cy="1001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25" rIns="0" bIns="0" anchor="t" anchorCtr="0">
            <a:spAutoFit/>
          </a:bodyPr>
          <a:lstStyle/>
          <a:p>
            <a:pPr marL="165100" marR="0" lvl="0" indent="-158750" algn="l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Clr>
                <a:srgbClr val="0C0C0A"/>
              </a:buClr>
              <a:buSzPts val="1500"/>
              <a:buFont typeface="Arial"/>
              <a:buChar char="•"/>
            </a:pPr>
            <a:r>
              <a:rPr lang="en-GB" sz="1500" b="1" dirty="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Core Model: </a:t>
            </a:r>
            <a:r>
              <a:rPr lang="en-GB" sz="1400" dirty="0" err="1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GB" sz="1400" dirty="0" err="1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GB" sz="1400" dirty="0" err="1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deled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GB" sz="14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loud message service as 	an M/M/N tandem queue (Sender </a:t>
            </a:r>
            <a:r>
              <a:rPr lang="en-GB" sz="13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➔	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Broker </a:t>
            </a:r>
            <a:r>
              <a:rPr lang="en-GB" sz="13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➔ 	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Receiver).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152400" lvl="0" indent="-1460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C0C0A"/>
              </a:buClr>
              <a:buSzPts val="1500"/>
              <a:buFont typeface="Arial"/>
              <a:buChar char="•"/>
            </a:pPr>
            <a:r>
              <a:rPr lang="en-GB" sz="1500" b="1" dirty="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Key Mechanism: </a:t>
            </a:r>
            <a:r>
              <a:rPr lang="en-GB" sz="1400" dirty="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Incorporated the </a:t>
            </a:r>
            <a:r>
              <a:rPr lang="en-GB" sz="1400" dirty="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GB" sz="1400" dirty="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Visibility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596652" y="2048766"/>
            <a:ext cx="4478100" cy="25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25" rIns="0" bIns="0" anchor="t" anchorCtr="0">
            <a:spAutoFit/>
          </a:bodyPr>
          <a:lstStyle/>
          <a:p>
            <a:pPr marL="177800" marR="54610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Timeout' to guarantee at-least-once message delivery and system reliability.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65100" lvl="0" indent="-1460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C0C0A"/>
              </a:buClr>
              <a:buSzPts val="1500"/>
              <a:buFont typeface="Arial"/>
              <a:buChar char="•"/>
            </a:pPr>
            <a:r>
              <a:rPr lang="en-GB" sz="1500" b="1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Methodology: 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Utilized a dual approach of analytical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77800" marR="419100" lvl="0" indent="0" algn="l" rtl="0">
              <a:lnSpc>
                <a:spcPct val="113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formulas (based on Jackson's theorem) and simulation with Colored Petri Nets (CPN Tools)</a:t>
            </a:r>
            <a:r>
              <a:rPr lang="en-GB" sz="14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77800" marR="190500" lvl="0" indent="-158750" algn="l" rtl="0">
              <a:lnSpc>
                <a:spcPct val="129285"/>
              </a:lnSpc>
              <a:spcBef>
                <a:spcPts val="200"/>
              </a:spcBef>
              <a:spcAft>
                <a:spcPts val="0"/>
              </a:spcAft>
              <a:buClr>
                <a:srgbClr val="0C0C0A"/>
              </a:buClr>
              <a:buSzPts val="1500"/>
              <a:buFont typeface="Arial"/>
              <a:buChar char="•"/>
            </a:pPr>
            <a:r>
              <a:rPr lang="en-GB" sz="1500" b="1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Primary Metrics: 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Focused on mean total delivery time and mean number of messages in the queue</a:t>
            </a:r>
            <a:r>
              <a:rPr lang="en-GB" sz="14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7780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A"/>
              </a:buClr>
              <a:buSzPts val="1500"/>
              <a:buFont typeface="Arial"/>
              <a:buChar char="•"/>
            </a:pPr>
            <a:r>
              <a:rPr lang="en-GB" sz="1500" b="1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Critical </a:t>
            </a:r>
            <a:r>
              <a:rPr lang="en-GB" sz="1500" b="1">
                <a:solidFill>
                  <a:srgbClr val="0C0C0A"/>
                </a:solidFill>
              </a:rPr>
              <a:t>Insight: </a:t>
            </a:r>
            <a:r>
              <a:rPr lang="en-GB" sz="1500">
                <a:solidFill>
                  <a:srgbClr val="0C0C0A"/>
                </a:solidFill>
              </a:rPr>
              <a:t>Identified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 the 'Stage 2 Load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77800" marR="12700" lvl="0" indent="0" algn="l" rtl="0">
              <a:lnSpc>
                <a:spcPct val="113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Amplification'</a:t>
            </a:r>
            <a:r>
              <a:rPr lang="en-GB">
                <a:solidFill>
                  <a:srgbClr val="0C0C0A"/>
                </a:solidFill>
              </a:rPr>
              <a:t> 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effect where retransmissions increase the arrival rate at the receiver stage (A</a:t>
            </a:r>
            <a:r>
              <a:rPr lang="en-GB" sz="1600" baseline="-25000">
                <a:solidFill>
                  <a:srgbClr val="2828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= A</a:t>
            </a:r>
            <a:r>
              <a:rPr lang="en-GB" sz="14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(1-p))</a:t>
            </a:r>
            <a:r>
              <a:rPr lang="en-GB" sz="14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6449917" y="2787283"/>
            <a:ext cx="36549" cy="8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4450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5536483" y="2857971"/>
            <a:ext cx="658222" cy="171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GB" sz="1200" baseline="-250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GB" sz="10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ser</a:t>
            </a:r>
            <a:r>
              <a:rPr lang="en-GB" sz="10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GB" sz="10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ers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6729459" y="2857971"/>
            <a:ext cx="673838" cy="171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GB" sz="1200" baseline="-250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GB" sz="10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6415628" y="3096962"/>
            <a:ext cx="1365951" cy="255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50" rIns="0" bIns="0" anchor="t" anchorCtr="0">
            <a:spAutoFit/>
          </a:bodyPr>
          <a:lstStyle/>
          <a:p>
            <a:pPr marL="7620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059"/>
              </a:buClr>
              <a:buSzPts val="900"/>
              <a:buFont typeface="Courier New"/>
              <a:buChar char="•"/>
            </a:pPr>
            <a:r>
              <a:rPr lang="en-GB" sz="1600">
                <a:solidFill>
                  <a:srgbClr val="445059"/>
                </a:solidFill>
                <a:latin typeface="Courier New"/>
                <a:ea typeface="Courier New"/>
                <a:cs typeface="Courier New"/>
                <a:sym typeface="Courier New"/>
              </a:rPr>
              <a:t>------------------</a:t>
            </a:r>
            <a:r>
              <a:rPr lang="en-GB" sz="1600">
                <a:solidFill>
                  <a:srgbClr val="233B4D"/>
                </a:solidFill>
                <a:latin typeface="Courier New"/>
                <a:ea typeface="Courier New"/>
                <a:cs typeface="Courier New"/>
                <a:sym typeface="Courier New"/>
              </a:rPr>
              <a:t>·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6301191" y="3275364"/>
            <a:ext cx="1528430" cy="171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82824"/>
                </a:solidFill>
                <a:latin typeface="Arial"/>
                <a:ea typeface="Arial"/>
                <a:cs typeface="Arial"/>
                <a:sym typeface="Arial"/>
              </a:rPr>
              <a:t>Retransmission (prob. p)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Two-Stage Tandem Queue Architecture</a:t>
            </a:r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body" idx="1"/>
          </p:nvPr>
        </p:nvSpPr>
        <p:spPr>
          <a:xfrm>
            <a:off x="480716" y="1079938"/>
            <a:ext cx="3956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Diagram: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050" y="1752213"/>
            <a:ext cx="7587614" cy="2676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Two-Stage Tandem Queue Architecture</a:t>
            </a:r>
            <a:endParaRPr/>
          </a:p>
        </p:txBody>
      </p:sp>
      <p:sp>
        <p:nvSpPr>
          <p:cNvPr id="169" name="Google Shape;169;p27"/>
          <p:cNvSpPr txBox="1">
            <a:spLocks noGrp="1"/>
          </p:cNvSpPr>
          <p:nvPr>
            <p:ph type="body" idx="1"/>
          </p:nvPr>
        </p:nvSpPr>
        <p:spPr>
          <a:xfrm>
            <a:off x="503041" y="924763"/>
            <a:ext cx="3956700" cy="585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Parameters: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0" name="Google Shape;170;p27"/>
          <p:cNvGraphicFramePr/>
          <p:nvPr/>
        </p:nvGraphicFramePr>
        <p:xfrm>
          <a:off x="480725" y="1292200"/>
          <a:ext cx="5149650" cy="3519446"/>
        </p:xfrm>
        <a:graphic>
          <a:graphicData uri="http://schemas.openxmlformats.org/drawingml/2006/table">
            <a:tbl>
              <a:tblPr>
                <a:noFill/>
                <a:tableStyleId>{DDC0DDD7-A2B3-47B2-A35C-B710F065B0F2}</a:tableStyleId>
              </a:tblPr>
              <a:tblGrid>
                <a:gridCol w="142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Symbol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Arrival Rate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λ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 msg/s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Messages entering system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Broker Servers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n₁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Stage 1 threads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Receiver Servers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n₂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Stage 2 threads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Service Rate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μ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 msg/s/server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Processing speed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Network Delay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ms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One-way latency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Failure Prob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 (20%)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Transmission failure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1" name="Google Shape;171;p27"/>
          <p:cNvSpPr txBox="1"/>
          <p:nvPr/>
        </p:nvSpPr>
        <p:spPr>
          <a:xfrm>
            <a:off x="5706950" y="1292200"/>
            <a:ext cx="3615000" cy="26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Inflation (Key Insight!):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Λ₂ = λ / (1 - p)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Λ₂ = 100 / (1 - 0.2)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Λ₂ = 100 / 0.8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Λ₂ = 125 msg/s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Stage 2 sees </a:t>
            </a:r>
            <a:r>
              <a:rPr lang="en-GB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 MORE traffic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Stage 1!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9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Methodology: SimPy Discrete-Event Simulation</a:t>
            </a:r>
            <a:endParaRPr/>
          </a:p>
        </p:txBody>
      </p:sp>
      <p:graphicFrame>
        <p:nvGraphicFramePr>
          <p:cNvPr id="177" name="Google Shape;177;p28"/>
          <p:cNvGraphicFramePr/>
          <p:nvPr/>
        </p:nvGraphicFramePr>
        <p:xfrm>
          <a:off x="230500" y="1954300"/>
          <a:ext cx="4811500" cy="3044097"/>
        </p:xfrm>
        <a:graphic>
          <a:graphicData uri="http://schemas.openxmlformats.org/drawingml/2006/table">
            <a:tbl>
              <a:tblPr>
                <a:noFill/>
                <a:tableStyleId>{DDC0DDD7-A2B3-47B2-A35C-B710F065B0F2}</a:tableStyleId>
              </a:tblPr>
              <a:tblGrid>
                <a:gridCol w="156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Aspect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CPN (Paper)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SimPy (Ours)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Formal Proofs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✅ Yes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 No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Deadlock Detection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✅ Provable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⚠️ Empirical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Distribution Flexibility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 Complex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✅ Easy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Statistical Analysis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 Limited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✅ Rich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Python Ecosystem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 No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✅ Full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Industry Standard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⚠️ Academic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✅ Production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8" name="Google Shape;178;p28"/>
          <p:cNvSpPr txBox="1"/>
          <p:nvPr/>
        </p:nvSpPr>
        <p:spPr>
          <a:xfrm>
            <a:off x="230500" y="1416950"/>
            <a:ext cx="473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SimPy Instead of Petri Nets?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5344350" y="1416950"/>
            <a:ext cx="34086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Trade-off: 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Lost formal proofs, gained flexibility for heavy-tail analysis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Stack: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React 18 + TypeScript + Material-UI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FastAPI + Pydantic + Uvicorn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Simulation: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SimPy + NumPy + SciPy + Pandas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Analysis: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15 Equations + EVT + Bootstrap CI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Example: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A64A"/>
              </a:buClr>
              <a:buSzPts val="700"/>
              <a:buFont typeface="Times New Roman"/>
              <a:buChar char="○"/>
            </a:pPr>
            <a:r>
              <a:rPr lang="en-GB" sz="700" i="1">
                <a:solidFill>
                  <a:srgbClr val="57A64A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One line to change distribution!</a:t>
            </a:r>
            <a:endParaRPr sz="700" i="1">
              <a:solidFill>
                <a:srgbClr val="57A64A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Times New Roman"/>
              <a:buChar char="○"/>
            </a:pPr>
            <a:r>
              <a:rPr lang="en-GB" sz="700">
                <a:solidFill>
                  <a:srgbClr val="D4D4D4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service = ParetoService(alpha=</a:t>
            </a:r>
            <a:r>
              <a:rPr lang="en-GB" sz="700">
                <a:solidFill>
                  <a:srgbClr val="B8D7A3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2.5</a:t>
            </a:r>
            <a:r>
              <a:rPr lang="en-GB" sz="700">
                <a:solidFill>
                  <a:srgbClr val="D4D4D4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,scale=</a:t>
            </a:r>
            <a:r>
              <a:rPr lang="en-GB" sz="700">
                <a:solidFill>
                  <a:srgbClr val="B8D7A3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0.05</a:t>
            </a:r>
            <a:r>
              <a:rPr lang="en-GB" sz="700">
                <a:solidFill>
                  <a:srgbClr val="D4D4D4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  </a:t>
            </a:r>
            <a:r>
              <a:rPr lang="en-GB" sz="700" i="1">
                <a:solidFill>
                  <a:srgbClr val="57A64A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Heavy-tailed</a:t>
            </a:r>
            <a:endParaRPr sz="700" i="1">
              <a:solidFill>
                <a:srgbClr val="57A64A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A64A"/>
              </a:buClr>
              <a:buSzPts val="700"/>
              <a:buFont typeface="Times New Roman"/>
              <a:buChar char="○"/>
            </a:pPr>
            <a:r>
              <a:rPr lang="en-GB" sz="700" i="1">
                <a:solidFill>
                  <a:srgbClr val="57A64A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vs</a:t>
            </a:r>
            <a:endParaRPr sz="700" i="1">
              <a:solidFill>
                <a:srgbClr val="57A64A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Times New Roman"/>
              <a:buChar char="○"/>
            </a:pPr>
            <a:r>
              <a:rPr lang="en-GB" sz="700">
                <a:solidFill>
                  <a:srgbClr val="D4D4D4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service = ExponentialService(rate=</a:t>
            </a:r>
            <a:r>
              <a:rPr lang="en-GB" sz="700">
                <a:solidFill>
                  <a:srgbClr val="B8D7A3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12.0</a:t>
            </a:r>
            <a:r>
              <a:rPr lang="en-GB" sz="700">
                <a:solidFill>
                  <a:srgbClr val="D4D4D4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  </a:t>
            </a:r>
            <a:r>
              <a:rPr lang="en-GB" sz="700" i="1">
                <a:solidFill>
                  <a:srgbClr val="57A64A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Paper's assumption</a:t>
            </a:r>
            <a:endParaRPr sz="700" i="1">
              <a:solidFill>
                <a:srgbClr val="57A64A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Validating the Baseline Mode</a:t>
            </a:r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body" idx="1"/>
          </p:nvPr>
        </p:nvSpPr>
        <p:spPr>
          <a:xfrm>
            <a:off x="41888" y="955768"/>
            <a:ext cx="3977700" cy="806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Reproducing Results from Base Paper to Validate the Setup Is Correct: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600" y="1437875"/>
            <a:ext cx="2467787" cy="255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925" y="1387675"/>
            <a:ext cx="2201887" cy="2556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p29"/>
          <p:cNvGraphicFramePr/>
          <p:nvPr/>
        </p:nvGraphicFramePr>
        <p:xfrm>
          <a:off x="41900" y="1619600"/>
          <a:ext cx="3868275" cy="3076459"/>
        </p:xfrm>
        <a:graphic>
          <a:graphicData uri="http://schemas.openxmlformats.org/drawingml/2006/table">
            <a:tbl>
              <a:tblPr>
                <a:noFill/>
                <a:tableStyleId>{DDC0DDD7-A2B3-47B2-A35C-B710F065B0F2}</a:tableStyleId>
              </a:tblPr>
              <a:tblGrid>
                <a:gridCol w="120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Value</a:t>
                      </a:r>
                      <a:endParaRPr sz="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 Value</a:t>
                      </a:r>
                      <a:endParaRPr sz="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Error</a:t>
                      </a:r>
                      <a:endParaRPr sz="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Delivery Time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0.167s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0.156s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6.6% ✅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Queue Length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3.2 msgs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 msgs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12.5% ✅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Utilization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83.3%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83.1%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0.2% ✅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Service Rate Impact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Trend ✓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Trend ✓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 ✅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Arrival Rate Impact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Trend ✓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Trend ✓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 ✅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>
            <a:spLocks noGrp="1"/>
          </p:cNvSpPr>
          <p:nvPr>
            <p:ph type="ctrTitle"/>
          </p:nvPr>
        </p:nvSpPr>
        <p:spPr>
          <a:xfrm>
            <a:off x="685800" y="578310"/>
            <a:ext cx="77724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Validating the Baseline Mode</a:t>
            </a:r>
            <a:endParaRPr/>
          </a:p>
        </p:txBody>
      </p:sp>
      <p:sp>
        <p:nvSpPr>
          <p:cNvPr id="194" name="Google Shape;194;p30"/>
          <p:cNvSpPr txBox="1">
            <a:spLocks noGrp="1"/>
          </p:cNvSpPr>
          <p:nvPr>
            <p:ph type="subTitle" idx="1"/>
          </p:nvPr>
        </p:nvSpPr>
        <p:spPr>
          <a:xfrm>
            <a:off x="576350" y="1461735"/>
            <a:ext cx="6400800" cy="284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92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GB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Inflation Validation:</a:t>
            </a:r>
            <a:endParaRPr sz="19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Formula: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Λ₂ = λ/(1-p)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Expected: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100/(1-0.2) = 125 msg/s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Simulated: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124.7 msg/s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Error: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0.2% ✅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GB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Validation Matters:</a:t>
            </a:r>
            <a:endParaRPr sz="19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○"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Proves our simulation engine is correct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○"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Establishes credibility for extensions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differences with heavy tails are </a:t>
            </a:r>
            <a:r>
              <a:rPr lang="en-GB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not bugs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514" y="1009961"/>
            <a:ext cx="1786131" cy="801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50" y="1899375"/>
            <a:ext cx="1772800" cy="1034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9850" y="3005350"/>
            <a:ext cx="1772800" cy="93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9844" y="4079821"/>
            <a:ext cx="693125" cy="614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2837" y="4012499"/>
            <a:ext cx="653137" cy="681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1" descr="$PPTXTitle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25" rIns="0" bIns="0" anchor="t" anchorCtr="0">
            <a:spAutoFit/>
          </a:bodyPr>
          <a:lstStyle/>
          <a:p>
            <a:pPr marL="63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The Reality Gap: Why Modern Systems Demand More</a:t>
            </a:r>
            <a:endParaRPr sz="2800"/>
          </a:p>
        </p:txBody>
      </p:sp>
      <p:sp>
        <p:nvSpPr>
          <p:cNvPr id="205" name="Google Shape;205;p31"/>
          <p:cNvSpPr txBox="1"/>
          <p:nvPr/>
        </p:nvSpPr>
        <p:spPr>
          <a:xfrm>
            <a:off x="1476203" y="4234695"/>
            <a:ext cx="106658" cy="199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C36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2665790" y="1006630"/>
            <a:ext cx="5462809" cy="78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12700" lvl="0" indent="0" algn="l" rtl="0">
              <a:lnSpc>
                <a:spcPct val="119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1. Idealized Workloads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97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The M/M/N model assumes exponential service times. Real-world services exhibit high </a:t>
            </a:r>
            <a:r>
              <a:rPr lang="en-GB" sz="13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variability 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GB" sz="13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heavy tails, 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where a few requests take disproportionately long, dominating P99 </a:t>
            </a:r>
            <a:r>
              <a:rPr lang="en-GB" sz="1200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r>
              <a:rPr lang="en-GB" sz="1200">
                <a:solidFill>
                  <a:srgbClr val="2F2F2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2674360" y="2036649"/>
            <a:ext cx="5875485" cy="795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12700" lvl="0" indent="0" algn="l" rtl="0">
              <a:lnSpc>
                <a:spcPct val="1172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2. Abstracted Architecture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9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The model lacks exp</a:t>
            </a:r>
            <a:r>
              <a:rPr lang="en-GB" sz="1200">
                <a:solidFill>
                  <a:srgbClr val="2F2F2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icit treatment of critical architectural choices like </a:t>
            </a:r>
            <a:r>
              <a:rPr lang="en-GB" sz="13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dedicated (thread-per-connection) vs. shared (worker pool) threading</a:t>
            </a:r>
            <a:r>
              <a:rPr lang="en-GB" sz="1300" b="1">
                <a:solidFill>
                  <a:srgbClr val="2F2F2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which have s</a:t>
            </a:r>
            <a:r>
              <a:rPr lang="en-GB" sz="1200">
                <a:solidFill>
                  <a:srgbClr val="2F2F2D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gnificant performance trade-offs</a:t>
            </a:r>
            <a:r>
              <a:rPr lang="en-GB" sz="1200">
                <a:solidFill>
                  <a:srgbClr val="2F2F2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2672757" y="3086864"/>
            <a:ext cx="57396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12700" lvl="0" indent="0" algn="l" rtl="0">
              <a:lnSpc>
                <a:spcPct val="119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3. Limited Accuracy Under Stress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Basic queueing approximations </a:t>
            </a:r>
            <a:r>
              <a:rPr lang="en-GB" sz="1200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lose 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accuracy under high </a:t>
            </a:r>
            <a:r>
              <a:rPr lang="en-GB" sz="1200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utilization 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(p &gt; 0</a:t>
            </a:r>
            <a:r>
              <a:rPr lang="en-GB" sz="1200">
                <a:solidFill>
                  <a:srgbClr val="2F2F2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8) or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with high-variance workloads</a:t>
            </a:r>
            <a:r>
              <a:rPr lang="en-GB" sz="1200">
                <a:solidFill>
                  <a:srgbClr val="2F2F2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precisely where predictions are most needed</a:t>
            </a:r>
            <a:r>
              <a:rPr lang="en-GB" sz="1200">
                <a:solidFill>
                  <a:srgbClr val="2F2F2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1"/>
          <p:cNvSpPr txBox="1"/>
          <p:nvPr/>
        </p:nvSpPr>
        <p:spPr>
          <a:xfrm>
            <a:off x="2671384" y="3948578"/>
            <a:ext cx="5940277" cy="795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4. Legacy Tooling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-12700" algn="l" rtl="0">
              <a:lnSpc>
                <a:spcPct val="974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Colored </a:t>
            </a:r>
            <a:r>
              <a:rPr lang="en-GB" sz="1200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Petri Nets 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are powerful but </a:t>
            </a:r>
            <a:r>
              <a:rPr lang="en-GB" sz="1200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less 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integrated with modern data science and engineering workflows than a </a:t>
            </a:r>
            <a:r>
              <a:rPr lang="en-GB" sz="13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Python/SimPy 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based framework, which allows </a:t>
            </a:r>
            <a:r>
              <a:rPr lang="en-GB" sz="1200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easier extens</a:t>
            </a:r>
            <a:r>
              <a:rPr lang="en-GB" sz="1200">
                <a:solidFill>
                  <a:srgbClr val="2F2F2D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on and integration with </a:t>
            </a:r>
            <a:r>
              <a:rPr lang="en-GB" sz="1200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libraries like </a:t>
            </a:r>
            <a:r>
              <a:rPr lang="en-GB" sz="12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Pandas and NumPy</a:t>
            </a:r>
            <a:r>
              <a:rPr lang="en-GB" sz="1200">
                <a:solidFill>
                  <a:srgbClr val="2F2F2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>
            <a:spLocks noGrp="1"/>
          </p:cNvSpPr>
          <p:nvPr>
            <p:ph type="ctrTitle"/>
          </p:nvPr>
        </p:nvSpPr>
        <p:spPr>
          <a:xfrm>
            <a:off x="810875" y="500135"/>
            <a:ext cx="77724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Mathematical Foundation: 15 Equations</a:t>
            </a:r>
            <a:endParaRPr/>
          </a:p>
        </p:txBody>
      </p:sp>
      <p:sp>
        <p:nvSpPr>
          <p:cNvPr id="215" name="Google Shape;215;p32"/>
          <p:cNvSpPr txBox="1">
            <a:spLocks noGrp="1"/>
          </p:cNvSpPr>
          <p:nvPr>
            <p:ph type="subTitle" idx="1"/>
          </p:nvPr>
        </p:nvSpPr>
        <p:spPr>
          <a:xfrm>
            <a:off x="810875" y="1184460"/>
            <a:ext cx="64008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1: M/M/N Baseline (Equations 1-5)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6" name="Google Shape;216;p32"/>
          <p:cNvGraphicFramePr/>
          <p:nvPr/>
        </p:nvGraphicFramePr>
        <p:xfrm>
          <a:off x="1350813" y="1592675"/>
          <a:ext cx="6391275" cy="3039375"/>
        </p:xfrm>
        <a:graphic>
          <a:graphicData uri="http://schemas.openxmlformats.org/drawingml/2006/table">
            <a:tbl>
              <a:tblPr>
                <a:noFill/>
                <a:tableStyleId>{DDC0DDD7-A2B3-47B2-A35C-B710F065B0F2}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</a:t>
                      </a:r>
                      <a:endParaRPr sz="17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Formula</a:t>
                      </a:r>
                      <a:endParaRPr sz="17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 Value</a:t>
                      </a:r>
                      <a:endParaRPr sz="17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ρ = λ/(N·μ)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0.833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Utilization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P₀ = [Σ...]⁻¹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0.012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 system empty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C(N,a) = Erlang-C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0.65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 of queuing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Lq = C·ρ/(1-ρ)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3.24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Queue length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Wq = Lq/λ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32ms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Wait time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>
            <a:spLocks noGrp="1"/>
          </p:cNvSpPr>
          <p:nvPr>
            <p:ph type="ctrTitle"/>
          </p:nvPr>
        </p:nvSpPr>
        <p:spPr>
          <a:xfrm>
            <a:off x="660475" y="316985"/>
            <a:ext cx="77724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Mathematical Foundation: 15 Equations</a:t>
            </a:r>
            <a:endParaRPr/>
          </a:p>
        </p:txBody>
      </p:sp>
      <p:graphicFrame>
        <p:nvGraphicFramePr>
          <p:cNvPr id="222" name="Google Shape;222;p33"/>
          <p:cNvGraphicFramePr/>
          <p:nvPr/>
        </p:nvGraphicFramePr>
        <p:xfrm>
          <a:off x="130075" y="1156425"/>
          <a:ext cx="4089250" cy="3678058"/>
        </p:xfrm>
        <a:graphic>
          <a:graphicData uri="http://schemas.openxmlformats.org/drawingml/2006/table">
            <a:tbl>
              <a:tblPr>
                <a:noFill/>
                <a:tableStyleId>{DDC0DDD7-A2B3-47B2-A35C-B710F065B0F2}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Formula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f(t) = α·k^α/t^(α+1)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Pareto Probability Distribution function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E[S] = α·k/(α-1)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service time (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α - shape parameter in pareto distribution - how extreme the outliers can be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E[S²] = α·k²/(α-2)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Second moment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C² = 1/(α(α-2))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CV squared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Wq ≈ Wq·(1+C²)/2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M/G/N approximation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23" name="Google Shape;223;p33"/>
          <p:cNvGraphicFramePr/>
          <p:nvPr/>
        </p:nvGraphicFramePr>
        <p:xfrm>
          <a:off x="4572000" y="1156425"/>
          <a:ext cx="4419600" cy="2451238"/>
        </p:xfrm>
        <a:graphic>
          <a:graphicData uri="http://schemas.openxmlformats.org/drawingml/2006/table">
            <a:tbl>
              <a:tblPr>
                <a:noFill/>
                <a:tableStyleId>{DDC0DDD7-A2B3-47B2-A35C-B710F065B0F2}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Formula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Nmax = Nthreads/2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Dedicated max connections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min(λ, cap)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Throughput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μeff = μ/(1+α·N/T)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Shared overhead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Psat = C(N,a)·ρ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Saturation probability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R99 ≈ E[R]+2.33·σ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P99 (normal approx)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>
            <a:spLocks noGrp="1"/>
          </p:cNvSpPr>
          <p:nvPr>
            <p:ph type="ctrTitle"/>
          </p:nvPr>
        </p:nvSpPr>
        <p:spPr>
          <a:xfrm>
            <a:off x="685800" y="428560"/>
            <a:ext cx="77724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Why "Heavy Tails" Matter</a:t>
            </a:r>
            <a:endParaRPr/>
          </a:p>
        </p:txBody>
      </p:sp>
      <p:sp>
        <p:nvSpPr>
          <p:cNvPr id="229" name="Google Shape;229;p34"/>
          <p:cNvSpPr txBox="1"/>
          <p:nvPr/>
        </p:nvSpPr>
        <p:spPr>
          <a:xfrm>
            <a:off x="72525" y="1333300"/>
            <a:ext cx="39777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B71E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GB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Comparison</a:t>
            </a: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(Same Mean = 100ms):</a:t>
            </a: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0" name="Google Shape;230;p34"/>
          <p:cNvGraphicFramePr/>
          <p:nvPr/>
        </p:nvGraphicFramePr>
        <p:xfrm>
          <a:off x="269550" y="2154100"/>
          <a:ext cx="3859950" cy="2410367"/>
        </p:xfrm>
        <a:graphic>
          <a:graphicData uri="http://schemas.openxmlformats.org/drawingml/2006/table">
            <a:tbl>
              <a:tblPr>
                <a:noFill/>
                <a:tableStyleId>{DDC0DDD7-A2B3-47B2-A35C-B710F065B0F2}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Percentile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Exponential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Pareto (α=2.5)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Ratio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P50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69ms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58ms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0.84x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P90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230ms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320ms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1.4x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P95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300ms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580ms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1.9x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P99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460ms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2,100ms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4.6x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P99.9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690ms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14,800ms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21x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1" name="Google Shape;231;p34"/>
          <p:cNvGraphicFramePr/>
          <p:nvPr/>
        </p:nvGraphicFramePr>
        <p:xfrm>
          <a:off x="4420025" y="1574950"/>
          <a:ext cx="4648200" cy="2521058"/>
        </p:xfrm>
        <a:graphic>
          <a:graphicData uri="http://schemas.openxmlformats.org/drawingml/2006/table">
            <a:tbl>
              <a:tblPr>
                <a:noFill/>
                <a:tableStyleId>{DDC0DDD7-A2B3-47B2-A35C-B710F065B0F2}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α Value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CV²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Tail Weight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Infinite variance!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Infinite variance!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2.1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47.6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Extremely heavy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Heavy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0.067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2" name="Google Shape;232;p34"/>
          <p:cNvSpPr txBox="1"/>
          <p:nvPr/>
        </p:nvSpPr>
        <p:spPr>
          <a:xfrm>
            <a:off x="4379225" y="4317850"/>
            <a:ext cx="47976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Warning: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α ≤ 2, variance is mathematically </a:t>
            </a:r>
            <a:r>
              <a:rPr lang="en-GB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INFINITE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Normal approximations completely fail!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4420025" y="1055050"/>
            <a:ext cx="391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Pareto Shape Parameter (α):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>
            <a:spLocks noGrp="1"/>
          </p:cNvSpPr>
          <p:nvPr>
            <p:ph type="ctrTitle"/>
          </p:nvPr>
        </p:nvSpPr>
        <p:spPr>
          <a:xfrm>
            <a:off x="685800" y="421960"/>
            <a:ext cx="77724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The "Reality Gap" in Performance</a:t>
            </a:r>
            <a:endParaRPr/>
          </a:p>
        </p:txBody>
      </p:sp>
      <p:sp>
        <p:nvSpPr>
          <p:cNvPr id="239" name="Google Shape;239;p35"/>
          <p:cNvSpPr txBox="1">
            <a:spLocks noGrp="1"/>
          </p:cNvSpPr>
          <p:nvPr>
            <p:ph type="subTitle" idx="1"/>
          </p:nvPr>
        </p:nvSpPr>
        <p:spPr>
          <a:xfrm>
            <a:off x="613600" y="1032752"/>
            <a:ext cx="6400800" cy="2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Latency Comparison: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0" name="Google Shape;240;p35"/>
          <p:cNvGraphicFramePr/>
          <p:nvPr/>
        </p:nvGraphicFramePr>
        <p:xfrm>
          <a:off x="613600" y="1412550"/>
          <a:ext cx="3895725" cy="1633418"/>
        </p:xfrm>
        <a:graphic>
          <a:graphicData uri="http://schemas.openxmlformats.org/drawingml/2006/table">
            <a:tbl>
              <a:tblPr>
                <a:noFill/>
                <a:tableStyleId>{DDC0DDD7-A2B3-47B2-A35C-B710F065B0F2}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Latency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Bar Width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(M/M/N)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0.167s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QNA Approximation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0.480s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 Simulation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0.190s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1" name="Google Shape;241;p35"/>
          <p:cNvSpPr txBox="1"/>
          <p:nvPr/>
        </p:nvSpPr>
        <p:spPr>
          <a:xfrm>
            <a:off x="613600" y="3147725"/>
            <a:ext cx="3720900" cy="11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Analysis: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predicts: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0.167s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average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Reality shows: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0.190s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average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Underestimation: </a:t>
            </a: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14%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2" name="Google Shape;2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5338" y="2438052"/>
            <a:ext cx="4329876" cy="259834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5"/>
          <p:cNvSpPr txBox="1"/>
          <p:nvPr/>
        </p:nvSpPr>
        <p:spPr>
          <a:xfrm>
            <a:off x="4796450" y="998675"/>
            <a:ext cx="4066800" cy="13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wait...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14% might seem acceptable for averages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real danger is in the </a:t>
            </a: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SLAs are built on P99, not mean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 the next slide for the critical finding!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>
            <a:spLocks noGrp="1"/>
          </p:cNvSpPr>
          <p:nvPr>
            <p:ph type="ctrTitle"/>
          </p:nvPr>
        </p:nvSpPr>
        <p:spPr>
          <a:xfrm>
            <a:off x="748350" y="375060"/>
            <a:ext cx="77724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dk1"/>
                </a:solidFill>
              </a:rPr>
              <a:t>CRITICAL FINDING: Tail Latency Risk </a:t>
            </a:r>
            <a:endParaRPr/>
          </a:p>
        </p:txBody>
      </p:sp>
      <p:graphicFrame>
        <p:nvGraphicFramePr>
          <p:cNvPr id="249" name="Google Shape;249;p36"/>
          <p:cNvGraphicFramePr/>
          <p:nvPr/>
        </p:nvGraphicFramePr>
        <p:xfrm>
          <a:off x="327150" y="1490125"/>
          <a:ext cx="3859100" cy="2286000"/>
        </p:xfrm>
        <a:graphic>
          <a:graphicData uri="http://schemas.openxmlformats.org/drawingml/2006/table">
            <a:tbl>
              <a:tblPr>
                <a:noFill/>
                <a:tableStyleId>{B9DDC561-AF27-4307-BC86-DF18F720981C}</a:tableStyleId>
              </a:tblPr>
              <a:tblGrid>
                <a:gridCol w="162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P99 Value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Error vs Reality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(Normal Approx)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4.25s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-45% ⚠️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Kingman Approx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5.12s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-34%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Whitt Approx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6.89s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-12%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EVT Estimate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7.56s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Simulation (Truth)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7.81s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0" name="Google Shape;250;p36"/>
          <p:cNvSpPr txBox="1"/>
          <p:nvPr/>
        </p:nvSpPr>
        <p:spPr>
          <a:xfrm>
            <a:off x="4468475" y="1299800"/>
            <a:ext cx="4490700" cy="29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Impact: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SLA Violations - 1 in 100 users timeout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Cascading Failures - Slow requests pile up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Customer Complaints - "The system is broken!"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GB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Matters: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build a system expecting 4-second worst case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it actually hits 8 seconds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SLA is violated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see timeouts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looks broken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36"/>
          <p:cNvSpPr txBox="1"/>
          <p:nvPr/>
        </p:nvSpPr>
        <p:spPr>
          <a:xfrm>
            <a:off x="262200" y="3882725"/>
            <a:ext cx="39888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Gap: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underestimates P99 by 45%!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37"/>
          <p:cNvGrpSpPr/>
          <p:nvPr/>
        </p:nvGrpSpPr>
        <p:grpSpPr>
          <a:xfrm>
            <a:off x="3465627" y="1696640"/>
            <a:ext cx="2239328" cy="2150948"/>
            <a:chOff x="6623198" y="3217332"/>
            <a:chExt cx="4279604" cy="4110700"/>
          </a:xfrm>
        </p:grpSpPr>
        <p:pic>
          <p:nvPicPr>
            <p:cNvPr id="257" name="Google Shape;257;p3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23198" y="3217332"/>
              <a:ext cx="4279604" cy="1097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3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23198" y="4340754"/>
              <a:ext cx="4279604" cy="29872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9" name="Google Shape;259;p37"/>
          <p:cNvSpPr/>
          <p:nvPr/>
        </p:nvSpPr>
        <p:spPr>
          <a:xfrm>
            <a:off x="539838" y="3312355"/>
            <a:ext cx="0" cy="1427522"/>
          </a:xfrm>
          <a:custGeom>
            <a:avLst/>
            <a:gdLst/>
            <a:ahLst/>
            <a:cxnLst/>
            <a:rect l="l" t="t" r="r" b="b"/>
            <a:pathLst>
              <a:path w="120000" h="2707004" extrusionOk="0">
                <a:moveTo>
                  <a:pt x="0" y="2706422"/>
                </a:moveTo>
                <a:lnTo>
                  <a:pt x="0" y="0"/>
                </a:lnTo>
              </a:path>
            </a:pathLst>
          </a:custGeom>
          <a:noFill/>
          <a:ln w="38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60" name="Google Shape;260;p37"/>
          <p:cNvSpPr/>
          <p:nvPr/>
        </p:nvSpPr>
        <p:spPr>
          <a:xfrm>
            <a:off x="546503" y="1104211"/>
            <a:ext cx="0" cy="1252389"/>
          </a:xfrm>
          <a:custGeom>
            <a:avLst/>
            <a:gdLst/>
            <a:ahLst/>
            <a:cxnLst/>
            <a:rect l="l" t="t" r="r" b="b"/>
            <a:pathLst>
              <a:path w="120000" h="2374900" extrusionOk="0">
                <a:moveTo>
                  <a:pt x="0" y="2374502"/>
                </a:moveTo>
                <a:lnTo>
                  <a:pt x="0" y="0"/>
                </a:lnTo>
              </a:path>
            </a:pathLst>
          </a:custGeom>
          <a:noFill/>
          <a:ln w="38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61" name="Google Shape;261;p37"/>
          <p:cNvSpPr/>
          <p:nvPr/>
        </p:nvSpPr>
        <p:spPr>
          <a:xfrm>
            <a:off x="3485620" y="1104211"/>
            <a:ext cx="0" cy="592708"/>
          </a:xfrm>
          <a:custGeom>
            <a:avLst/>
            <a:gdLst/>
            <a:ahLst/>
            <a:cxnLst/>
            <a:rect l="l" t="t" r="r" b="b"/>
            <a:pathLst>
              <a:path w="120000" h="1123950" extrusionOk="0">
                <a:moveTo>
                  <a:pt x="0" y="1123420"/>
                </a:moveTo>
                <a:lnTo>
                  <a:pt x="0" y="0"/>
                </a:lnTo>
              </a:path>
            </a:pathLst>
          </a:custGeom>
          <a:noFill/>
          <a:ln w="38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62" name="Google Shape;262;p37"/>
          <p:cNvSpPr/>
          <p:nvPr/>
        </p:nvSpPr>
        <p:spPr>
          <a:xfrm>
            <a:off x="8617414" y="3312355"/>
            <a:ext cx="0" cy="1427522"/>
          </a:xfrm>
          <a:custGeom>
            <a:avLst/>
            <a:gdLst/>
            <a:ahLst/>
            <a:cxnLst/>
            <a:rect l="l" t="t" r="r" b="b"/>
            <a:pathLst>
              <a:path w="120000" h="2707004" extrusionOk="0">
                <a:moveTo>
                  <a:pt x="0" y="2706422"/>
                </a:moveTo>
                <a:lnTo>
                  <a:pt x="0" y="0"/>
                </a:lnTo>
              </a:path>
            </a:pathLst>
          </a:custGeom>
          <a:noFill/>
          <a:ln w="38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63" name="Google Shape;263;p37"/>
          <p:cNvSpPr/>
          <p:nvPr/>
        </p:nvSpPr>
        <p:spPr>
          <a:xfrm>
            <a:off x="546503" y="1090747"/>
            <a:ext cx="2945883" cy="0"/>
          </a:xfrm>
          <a:custGeom>
            <a:avLst/>
            <a:gdLst/>
            <a:ahLst/>
            <a:cxnLst/>
            <a:rect l="l" t="t" r="r" b="b"/>
            <a:pathLst>
              <a:path w="5629909" h="120000" extrusionOk="0">
                <a:moveTo>
                  <a:pt x="0" y="0"/>
                </a:moveTo>
                <a:lnTo>
                  <a:pt x="5629718" y="0"/>
                </a:lnTo>
              </a:path>
            </a:pathLst>
          </a:custGeom>
          <a:noFill/>
          <a:ln w="38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64" name="Google Shape;264;p37"/>
          <p:cNvSpPr/>
          <p:nvPr/>
        </p:nvSpPr>
        <p:spPr>
          <a:xfrm>
            <a:off x="546503" y="2356390"/>
            <a:ext cx="2919302" cy="0"/>
          </a:xfrm>
          <a:custGeom>
            <a:avLst/>
            <a:gdLst/>
            <a:ahLst/>
            <a:cxnLst/>
            <a:rect l="l" t="t" r="r" b="b"/>
            <a:pathLst>
              <a:path w="5579109" h="120000" extrusionOk="0">
                <a:moveTo>
                  <a:pt x="0" y="0"/>
                </a:moveTo>
                <a:lnTo>
                  <a:pt x="5578770" y="0"/>
                </a:lnTo>
              </a:path>
            </a:pathLst>
          </a:custGeom>
          <a:noFill/>
          <a:ln w="38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65" name="Google Shape;265;p37"/>
          <p:cNvSpPr/>
          <p:nvPr/>
        </p:nvSpPr>
        <p:spPr>
          <a:xfrm>
            <a:off x="5704955" y="3298891"/>
            <a:ext cx="2919302" cy="0"/>
          </a:xfrm>
          <a:custGeom>
            <a:avLst/>
            <a:gdLst/>
            <a:ahLst/>
            <a:cxnLst/>
            <a:rect l="l" t="t" r="r" b="b"/>
            <a:pathLst>
              <a:path w="5579109" h="120000" extrusionOk="0">
                <a:moveTo>
                  <a:pt x="0" y="0"/>
                </a:moveTo>
                <a:lnTo>
                  <a:pt x="5578770" y="0"/>
                </a:lnTo>
              </a:path>
            </a:pathLst>
          </a:custGeom>
          <a:noFill/>
          <a:ln w="38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66" name="Google Shape;266;p37"/>
          <p:cNvSpPr/>
          <p:nvPr/>
        </p:nvSpPr>
        <p:spPr>
          <a:xfrm>
            <a:off x="546503" y="3298891"/>
            <a:ext cx="2919302" cy="0"/>
          </a:xfrm>
          <a:custGeom>
            <a:avLst/>
            <a:gdLst/>
            <a:ahLst/>
            <a:cxnLst/>
            <a:rect l="l" t="t" r="r" b="b"/>
            <a:pathLst>
              <a:path w="5579109" h="120000" extrusionOk="0">
                <a:moveTo>
                  <a:pt x="0" y="0"/>
                </a:moveTo>
                <a:lnTo>
                  <a:pt x="5578770" y="0"/>
                </a:lnTo>
              </a:path>
            </a:pathLst>
          </a:custGeom>
          <a:noFill/>
          <a:ln w="38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67" name="Google Shape;267;p37"/>
          <p:cNvSpPr/>
          <p:nvPr/>
        </p:nvSpPr>
        <p:spPr>
          <a:xfrm>
            <a:off x="5678296" y="4746302"/>
            <a:ext cx="2932592" cy="0"/>
          </a:xfrm>
          <a:custGeom>
            <a:avLst/>
            <a:gdLst/>
            <a:ahLst/>
            <a:cxnLst/>
            <a:rect l="l" t="t" r="r" b="b"/>
            <a:pathLst>
              <a:path w="5604509" h="120000" extrusionOk="0">
                <a:moveTo>
                  <a:pt x="0" y="0"/>
                </a:moveTo>
                <a:lnTo>
                  <a:pt x="5604244" y="0"/>
                </a:lnTo>
              </a:path>
            </a:pathLst>
          </a:custGeom>
          <a:noFill/>
          <a:ln w="38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68" name="Google Shape;268;p37"/>
          <p:cNvSpPr/>
          <p:nvPr/>
        </p:nvSpPr>
        <p:spPr>
          <a:xfrm>
            <a:off x="559832" y="4746302"/>
            <a:ext cx="2932592" cy="0"/>
          </a:xfrm>
          <a:custGeom>
            <a:avLst/>
            <a:gdLst/>
            <a:ahLst/>
            <a:cxnLst/>
            <a:rect l="l" t="t" r="r" b="b"/>
            <a:pathLst>
              <a:path w="5604509" h="120000" extrusionOk="0">
                <a:moveTo>
                  <a:pt x="0" y="0"/>
                </a:moveTo>
                <a:lnTo>
                  <a:pt x="5604244" y="0"/>
                </a:lnTo>
              </a:path>
            </a:pathLst>
          </a:custGeom>
          <a:noFill/>
          <a:ln w="38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69" name="Google Shape;269;p37" descr="$PPTXTitle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8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0C0C0A"/>
                </a:solidFill>
              </a:rPr>
              <a:t>Our Approach: An Extensible, Validated Modeling Framework</a:t>
            </a:r>
            <a:endParaRPr sz="2500"/>
          </a:p>
        </p:txBody>
      </p:sp>
      <p:sp>
        <p:nvSpPr>
          <p:cNvPr id="270" name="Google Shape;270;p37"/>
          <p:cNvSpPr txBox="1"/>
          <p:nvPr/>
        </p:nvSpPr>
        <p:spPr>
          <a:xfrm>
            <a:off x="692431" y="1094471"/>
            <a:ext cx="2725500" cy="14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4925" rIns="0" bIns="0" anchor="t" anchorCtr="0">
            <a:spAutoFit/>
          </a:bodyPr>
          <a:lstStyle/>
          <a:p>
            <a:pPr marL="292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112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Realistic Workloads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11851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Deep support for </a:t>
            </a:r>
            <a:r>
              <a:rPr lang="en-GB" sz="1400" b="1">
                <a:solidFill>
                  <a:srgbClr val="907033"/>
                </a:solidFill>
                <a:latin typeface="Arial"/>
                <a:ea typeface="Arial"/>
                <a:cs typeface="Arial"/>
                <a:sym typeface="Arial"/>
              </a:rPr>
              <a:t>heavy-tailed distributions(Pareto) 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to model high-variance service times accurately.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7"/>
          <p:cNvSpPr txBox="1"/>
          <p:nvPr/>
        </p:nvSpPr>
        <p:spPr>
          <a:xfrm>
            <a:off x="5671632" y="1090747"/>
            <a:ext cx="2946000" cy="1265700"/>
          </a:xfrm>
          <a:prstGeom prst="rect">
            <a:avLst/>
          </a:prstGeom>
          <a:noFill/>
          <a:ln w="38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8575" rIns="0" bIns="0" anchor="t" anchorCtr="0">
            <a:spAutoFit/>
          </a:bodyPr>
          <a:lstStyle/>
          <a:p>
            <a:pPr marL="0" marR="254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112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Architectural Depth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marR="25400" lvl="0" indent="0" algn="l" rtl="0">
              <a:lnSpc>
                <a:spcPct val="111851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Explicit modeling of </a:t>
            </a:r>
            <a:r>
              <a:rPr lang="en-GB" sz="1400" b="1">
                <a:solidFill>
                  <a:srgbClr val="907033"/>
                </a:solidFill>
                <a:latin typeface="Arial"/>
                <a:ea typeface="Arial"/>
                <a:cs typeface="Arial"/>
                <a:sym typeface="Arial"/>
              </a:rPr>
              <a:t>threading architectures</a:t>
            </a:r>
            <a:r>
              <a:rPr lang="en-GB" sz="1400" b="1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400" b="1">
                <a:solidFill>
                  <a:srgbClr val="907033"/>
                </a:solidFill>
                <a:latin typeface="Arial"/>
                <a:ea typeface="Arial"/>
                <a:cs typeface="Arial"/>
                <a:sym typeface="Arial"/>
              </a:rPr>
              <a:t>priority queues</a:t>
            </a:r>
            <a:r>
              <a:rPr lang="en-GB" sz="1400" b="1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GB" sz="1400" b="1">
                <a:solidFill>
                  <a:srgbClr val="907033"/>
                </a:solidFill>
                <a:latin typeface="Arial"/>
                <a:ea typeface="Arial"/>
                <a:cs typeface="Arial"/>
                <a:sym typeface="Arial"/>
              </a:rPr>
              <a:t>finite capacity 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systems with blocking.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7"/>
          <p:cNvSpPr txBox="1"/>
          <p:nvPr/>
        </p:nvSpPr>
        <p:spPr>
          <a:xfrm>
            <a:off x="4088774" y="2400175"/>
            <a:ext cx="1045200" cy="8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12700" marR="0" lvl="0" indent="0" algn="just" rtl="0">
              <a:lnSpc>
                <a:spcPct val="1088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C0C0A"/>
                </a:solidFill>
              </a:rPr>
              <a:t>Enhanced</a:t>
            </a:r>
            <a:r>
              <a:rPr lang="en-GB" sz="16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 Modeling Framework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7"/>
          <p:cNvSpPr txBox="1"/>
          <p:nvPr/>
        </p:nvSpPr>
        <p:spPr>
          <a:xfrm>
            <a:off x="687033" y="3282420"/>
            <a:ext cx="2723596" cy="134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4925" rIns="0" bIns="0" anchor="t" anchorCtr="0">
            <a:spAutoFit/>
          </a:bodyPr>
          <a:lstStyle/>
          <a:p>
            <a:pPr marL="292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112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Analytics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11851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Implementation of </a:t>
            </a:r>
            <a:r>
              <a:rPr lang="en-GB" sz="1400" b="1">
                <a:solidFill>
                  <a:srgbClr val="907033"/>
                </a:solidFill>
                <a:latin typeface="Arial"/>
                <a:ea typeface="Arial"/>
                <a:cs typeface="Arial"/>
                <a:sym typeface="Arial"/>
              </a:rPr>
              <a:t>15 performance equations 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and a suite of advanced </a:t>
            </a:r>
            <a:r>
              <a:rPr lang="en-GB" sz="1400" b="1">
                <a:solidFill>
                  <a:srgbClr val="907033"/>
                </a:solidFill>
                <a:latin typeface="Arial"/>
                <a:ea typeface="Arial"/>
                <a:cs typeface="Arial"/>
                <a:sym typeface="Arial"/>
              </a:rPr>
              <a:t>M/G/N approximations 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{Whitt, Allen</a:t>
            </a:r>
            <a:r>
              <a:rPr lang="en-GB" sz="1400">
                <a:solidFill>
                  <a:srgbClr val="31312D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Cunneen) for superior accuracy</a:t>
            </a:r>
            <a:r>
              <a:rPr lang="en-GB" sz="1400">
                <a:solidFill>
                  <a:srgbClr val="31312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7"/>
          <p:cNvSpPr txBox="1"/>
          <p:nvPr/>
        </p:nvSpPr>
        <p:spPr>
          <a:xfrm>
            <a:off x="5678296" y="3282420"/>
            <a:ext cx="2929270" cy="134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4925" rIns="0" bIns="0" anchor="t" anchorCtr="0">
            <a:spAutoFit/>
          </a:bodyPr>
          <a:lstStyle/>
          <a:p>
            <a:pPr marL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112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Unprecedented Rigor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marR="228600" lvl="0" indent="0" algn="l" rtl="0">
              <a:lnSpc>
                <a:spcPct val="111851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A modern </a:t>
            </a:r>
            <a:r>
              <a:rPr lang="en-GB" sz="1400" b="1">
                <a:solidFill>
                  <a:srgbClr val="907033"/>
                </a:solidFill>
                <a:latin typeface="Arial"/>
                <a:ea typeface="Arial"/>
                <a:cs typeface="Arial"/>
                <a:sym typeface="Arial"/>
              </a:rPr>
              <a:t>Python/SimPy 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discrete-event simulation engine, validated with </a:t>
            </a:r>
            <a:r>
              <a:rPr lang="en-GB" sz="1400" b="1">
                <a:solidFill>
                  <a:srgbClr val="907033"/>
                </a:solidFill>
                <a:latin typeface="Arial"/>
                <a:ea typeface="Arial"/>
                <a:cs typeface="Arial"/>
                <a:sym typeface="Arial"/>
              </a:rPr>
              <a:t>63 unit tests 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and extreme condition stress testing (p </a:t>
            </a:r>
            <a:r>
              <a:rPr lang="en-GB" sz="13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GB" sz="1400">
                <a:solidFill>
                  <a:srgbClr val="31312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400">
                <a:solidFill>
                  <a:srgbClr val="0C0C0A"/>
                </a:solidFill>
                <a:latin typeface="Arial"/>
                <a:ea typeface="Arial"/>
                <a:cs typeface="Arial"/>
                <a:sym typeface="Arial"/>
              </a:rPr>
              <a:t>95)</a:t>
            </a:r>
            <a:r>
              <a:rPr lang="en-GB" sz="1400">
                <a:solidFill>
                  <a:srgbClr val="31312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527" y="3972106"/>
            <a:ext cx="826419" cy="414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6262" y="4093285"/>
            <a:ext cx="293245" cy="160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78536" y="1696640"/>
            <a:ext cx="1172981" cy="1042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98260" y="3837464"/>
            <a:ext cx="93305" cy="227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98260" y="4295249"/>
            <a:ext cx="93305" cy="21375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8"/>
          <p:cNvSpPr/>
          <p:nvPr/>
        </p:nvSpPr>
        <p:spPr>
          <a:xfrm>
            <a:off x="4811889" y="4025962"/>
            <a:ext cx="986502" cy="0"/>
          </a:xfrm>
          <a:custGeom>
            <a:avLst/>
            <a:gdLst/>
            <a:ahLst/>
            <a:cxnLst/>
            <a:rect l="l" t="t" r="r" b="b"/>
            <a:pathLst>
              <a:path w="1885315" h="120000" extrusionOk="0">
                <a:moveTo>
                  <a:pt x="0" y="0"/>
                </a:moveTo>
                <a:lnTo>
                  <a:pt x="1885064" y="0"/>
                </a:lnTo>
              </a:path>
            </a:pathLst>
          </a:custGeom>
          <a:noFill/>
          <a:ln w="12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85" name="Google Shape;285;p38"/>
          <p:cNvSpPr txBox="1"/>
          <p:nvPr/>
        </p:nvSpPr>
        <p:spPr>
          <a:xfrm>
            <a:off x="385917" y="90721"/>
            <a:ext cx="8328300" cy="15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2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Expanding the Scope: From Queues to Protocols and Architectures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The framework extends beyond the original tandem queue to mode</a:t>
            </a:r>
            <a:r>
              <a:rPr lang="en-GB" sz="1300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l </a:t>
            </a:r>
            <a:r>
              <a:rPr lang="en-GB" sz="13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other critica</a:t>
            </a:r>
            <a:r>
              <a:rPr lang="en-GB" sz="1300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l </a:t>
            </a:r>
            <a:r>
              <a:rPr lang="en-GB" sz="13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dist</a:t>
            </a:r>
            <a:r>
              <a:rPr lang="en-GB" sz="1300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GB" sz="13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ibuted systems compone</a:t>
            </a:r>
            <a:r>
              <a:rPr lang="en-GB" sz="1300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GB" sz="13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ts.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          Dis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 Protocols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8"/>
          <p:cNvSpPr txBox="1"/>
          <p:nvPr/>
        </p:nvSpPr>
        <p:spPr>
          <a:xfrm>
            <a:off x="378752" y="1908738"/>
            <a:ext cx="5178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8"/>
          <p:cNvSpPr txBox="1"/>
          <p:nvPr/>
        </p:nvSpPr>
        <p:spPr>
          <a:xfrm>
            <a:off x="376573" y="2080407"/>
            <a:ext cx="72900" cy="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376573" y="2342961"/>
            <a:ext cx="72000" cy="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476276" y="2551658"/>
            <a:ext cx="5895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1262557" y="1740434"/>
            <a:ext cx="585900" cy="5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8"/>
          <p:cNvSpPr txBox="1"/>
          <p:nvPr/>
        </p:nvSpPr>
        <p:spPr>
          <a:xfrm>
            <a:off x="2167781" y="1605791"/>
            <a:ext cx="2286332" cy="122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Modeled and compared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18636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52D42"/>
                </a:solidFill>
                <a:latin typeface="Arial"/>
                <a:ea typeface="Arial"/>
                <a:cs typeface="Arial"/>
                <a:sym typeface="Arial"/>
              </a:rPr>
              <a:t>Dedicated (Thread-per-Connection) 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vs. </a:t>
            </a:r>
            <a:r>
              <a:rPr lang="en-GB" sz="1200" b="1">
                <a:solidFill>
                  <a:srgbClr val="152D42"/>
                </a:solidFill>
                <a:latin typeface="Arial"/>
                <a:ea typeface="Arial"/>
                <a:cs typeface="Arial"/>
                <a:sym typeface="Arial"/>
              </a:rPr>
              <a:t>Shared (Worker Pool) 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architectures. Shared mode</a:t>
            </a:r>
            <a:r>
              <a:rPr lang="en-GB" sz="1100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4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show a </a:t>
            </a:r>
            <a:r>
              <a:rPr lang="en-GB" sz="1200" b="1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10-15</a:t>
            </a:r>
            <a:r>
              <a:rPr lang="en-GB" sz="1200" b="1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12700" marR="177800" lvl="0" indent="0" algn="l" rtl="0">
              <a:lnSpc>
                <a:spcPct val="11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perfo</a:t>
            </a:r>
            <a:r>
              <a:rPr lang="en-GB" sz="1200" b="1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GB" sz="1200" b="1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GB" sz="1200" b="1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GB" sz="1200" b="1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nc</a:t>
            </a:r>
            <a:r>
              <a:rPr lang="en-GB" sz="1200" b="1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GB" sz="1200" b="1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overhe</a:t>
            </a:r>
            <a:r>
              <a:rPr lang="en-GB" sz="1200" b="1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GB" sz="1200" b="1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but offer greater connection scalability.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394814" y="3214775"/>
            <a:ext cx="1455331" cy="259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 Q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38"/>
          <p:cNvSpPr txBox="1"/>
          <p:nvPr/>
        </p:nvSpPr>
        <p:spPr>
          <a:xfrm>
            <a:off x="1072208" y="3686025"/>
            <a:ext cx="201686" cy="566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B68328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8"/>
          <p:cNvSpPr txBox="1"/>
          <p:nvPr/>
        </p:nvSpPr>
        <p:spPr>
          <a:xfrm>
            <a:off x="1915845" y="3680838"/>
            <a:ext cx="2482370" cy="9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Modeled M/M/N systems with multiple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priority </a:t>
            </a:r>
            <a:r>
              <a:rPr lang="en-GB" sz="1200" b="1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GB" sz="1200" b="1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lasses </a:t>
            </a:r>
            <a:r>
              <a:rPr lang="en-GB" sz="1200" b="1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1200" b="1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preemptive 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12700" lvl="0" indent="-127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non-pr</a:t>
            </a:r>
            <a:r>
              <a:rPr lang="en-GB" sz="1200" b="1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ee</a:t>
            </a:r>
            <a:r>
              <a:rPr lang="en-GB" sz="1200" b="1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mptiv</a:t>
            </a:r>
            <a:r>
              <a:rPr lang="en-GB" sz="1200" b="1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e), 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showing d</a:t>
            </a:r>
            <a:r>
              <a:rPr lang="en-GB" sz="1100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amatic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12700" marR="203200" lvl="0" indent="0" algn="l" rtl="0">
              <a:lnSpc>
                <a:spcPct val="114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wait time reduction for high-priority traffic.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8"/>
          <p:cNvSpPr txBox="1"/>
          <p:nvPr/>
        </p:nvSpPr>
        <p:spPr>
          <a:xfrm>
            <a:off x="4813898" y="3197944"/>
            <a:ext cx="3345269" cy="27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Ca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7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ntr</a:t>
            </a:r>
            <a:r>
              <a:rPr lang="en-GB" sz="1600" b="1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GB" sz="1600" b="1">
                <a:solidFill>
                  <a:srgbClr val="0C0C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8"/>
          <p:cNvSpPr/>
          <p:nvPr/>
        </p:nvSpPr>
        <p:spPr>
          <a:xfrm>
            <a:off x="4826445" y="4301980"/>
            <a:ext cx="913071" cy="0"/>
          </a:xfrm>
          <a:custGeom>
            <a:avLst/>
            <a:gdLst/>
            <a:ahLst/>
            <a:cxnLst/>
            <a:rect l="l" t="t" r="r" b="b"/>
            <a:pathLst>
              <a:path w="1744979" h="120000" extrusionOk="0">
                <a:moveTo>
                  <a:pt x="0" y="0"/>
                </a:moveTo>
                <a:lnTo>
                  <a:pt x="1744957" y="0"/>
                </a:lnTo>
              </a:path>
            </a:pathLst>
          </a:custGeom>
          <a:noFill/>
          <a:ln w="12750" cap="flat" cmpd="sng">
            <a:solidFill>
              <a:srgbClr val="242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97" name="Google Shape;297;p38"/>
          <p:cNvSpPr txBox="1"/>
          <p:nvPr/>
        </p:nvSpPr>
        <p:spPr>
          <a:xfrm>
            <a:off x="4806509" y="3810570"/>
            <a:ext cx="1371932" cy="595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7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•••• </a:t>
            </a:r>
            <a:r>
              <a:rPr lang="en-GB" sz="3800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�</a:t>
            </a:r>
            <a:r>
              <a:rPr lang="en-GB" sz="3300" baseline="300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3300" baseline="30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8"/>
          <p:cNvSpPr txBox="1"/>
          <p:nvPr/>
        </p:nvSpPr>
        <p:spPr>
          <a:xfrm>
            <a:off x="6372063" y="1704081"/>
            <a:ext cx="23850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50" rIns="0" bIns="0" anchor="t" anchorCtr="0">
            <a:spAutoFit/>
          </a:bodyPr>
          <a:lstStyle/>
          <a:p>
            <a:pPr marL="12700" marR="0" lvl="0" indent="-1270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Implemented discrete-event simulat</a:t>
            </a:r>
            <a:r>
              <a:rPr lang="en-GB" sz="1100">
                <a:solidFill>
                  <a:srgbClr val="4D4B4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on models for foundational protocols, including </a:t>
            </a:r>
            <a:r>
              <a:rPr lang="en-GB" sz="1200" b="1">
                <a:solidFill>
                  <a:srgbClr val="152D42"/>
                </a:solidFill>
                <a:latin typeface="Arial"/>
                <a:ea typeface="Arial"/>
                <a:cs typeface="Arial"/>
                <a:sym typeface="Arial"/>
              </a:rPr>
              <a:t>Two-Phase Commit (2PC)</a:t>
            </a:r>
            <a:r>
              <a:rPr lang="en-GB" sz="1200" b="1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8"/>
          <p:cNvSpPr txBox="1"/>
          <p:nvPr/>
        </p:nvSpPr>
        <p:spPr>
          <a:xfrm>
            <a:off x="6378729" y="3658424"/>
            <a:ext cx="2363751" cy="786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00" rIns="0" bIns="0" anchor="t" anchorCtr="0">
            <a:spAutoFit/>
          </a:bodyPr>
          <a:lstStyle/>
          <a:p>
            <a:pPr marL="12700" marR="0" lvl="0" indent="-12700" algn="l" rtl="0">
              <a:lnSpc>
                <a:spcPct val="11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Implemented </a:t>
            </a:r>
            <a:r>
              <a:rPr lang="en-GB" sz="1200" b="1">
                <a:solidFill>
                  <a:srgbClr val="152D42"/>
                </a:solidFill>
                <a:latin typeface="Arial"/>
                <a:ea typeface="Arial"/>
                <a:cs typeface="Arial"/>
                <a:sym typeface="Arial"/>
              </a:rPr>
              <a:t>M/M/N/K 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systems with </a:t>
            </a:r>
            <a:r>
              <a:rPr lang="en-GB" sz="1200" b="1">
                <a:solidFill>
                  <a:srgbClr val="152D42"/>
                </a:solidFill>
                <a:latin typeface="Arial"/>
                <a:ea typeface="Arial"/>
                <a:cs typeface="Arial"/>
                <a:sym typeface="Arial"/>
              </a:rPr>
              <a:t>Erlang-B blocking</a:t>
            </a:r>
            <a:r>
              <a:rPr lang="en-GB" sz="1200" b="1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demonstrating how systems remain stable under over</a:t>
            </a:r>
            <a:r>
              <a:rPr lang="en-GB" sz="1100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oad </a:t>
            </a:r>
            <a:r>
              <a:rPr lang="en-GB" sz="1100">
                <a:solidFill>
                  <a:srgbClr val="2423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100">
                <a:solidFill>
                  <a:srgbClr val="152D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&gt;.</a:t>
            </a:r>
            <a:r>
              <a:rPr lang="en-GB" sz="1100">
                <a:solidFill>
                  <a:srgbClr val="152D42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GB" sz="1000" b="1">
                <a:solidFill>
                  <a:srgbClr val="152D42"/>
                </a:solidFill>
                <a:latin typeface="Arial"/>
                <a:ea typeface="Arial"/>
                <a:cs typeface="Arial"/>
                <a:sym typeface="Arial"/>
              </a:rPr>
              <a:t>N·µ</a:t>
            </a:r>
            <a:r>
              <a:rPr lang="en-GB" sz="1000" b="1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by shedding </a:t>
            </a:r>
            <a:r>
              <a:rPr lang="en-GB" sz="1100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GB" sz="1100">
                <a:solidFill>
                  <a:srgbClr val="24231F"/>
                </a:solidFill>
                <a:latin typeface="Arial"/>
                <a:ea typeface="Arial"/>
                <a:cs typeface="Arial"/>
                <a:sym typeface="Arial"/>
              </a:rPr>
              <a:t>oad</a:t>
            </a:r>
            <a:r>
              <a:rPr lang="en-GB" sz="1100">
                <a:solidFill>
                  <a:srgbClr val="0C0C0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Google Shape;304;p39"/>
          <p:cNvGraphicFramePr/>
          <p:nvPr/>
        </p:nvGraphicFramePr>
        <p:xfrm>
          <a:off x="408879" y="2924824"/>
          <a:ext cx="7954300" cy="1443425"/>
        </p:xfrm>
        <a:graphic>
          <a:graphicData uri="http://schemas.openxmlformats.org/drawingml/2006/table">
            <a:tbl>
              <a:tblPr firstRow="1" bandRow="1">
                <a:noFill/>
                <a:tableStyleId>{CDF61DBB-3150-42DC-BFF4-E4E6194877F5}</a:tableStyleId>
              </a:tblPr>
              <a:tblGrid>
                <a:gridCol w="101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7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900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 u="none" strike="noStrike" cap="none">
                          <a:solidFill>
                            <a:srgbClr val="05050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(Pareto)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00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0" lvl="0" indent="0" algn="ctr" rtl="0">
                        <a:lnSpc>
                          <a:spcPct val="102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u="none" strike="noStrike" cap="none">
                          <a:solidFill>
                            <a:srgbClr val="05050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cv</a:t>
                      </a:r>
                      <a:r>
                        <a:rPr lang="en-GB" sz="1600" u="none" strike="noStrike" cap="none" baseline="30000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600" u="none" strike="noStrike" cap="none" baseline="30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Kingman Error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57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Whitt Error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525" marB="0">
                    <a:lnT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Allen-Cunneen Error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4875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Best Method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5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100">
                <a:tc>
                  <a:txBody>
                    <a:bodyPr/>
                    <a:lstStyle/>
                    <a:p>
                      <a:pPr marL="0" marR="3810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4875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254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487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254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5.2%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487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3.1%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4825" marB="0"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127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6.8%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4875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Whitt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48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25">
                <a:tc>
                  <a:txBody>
                    <a:bodyPr/>
                    <a:lstStyle/>
                    <a:p>
                      <a:pPr marL="0" marR="3810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5075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507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127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8.7%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507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4.5%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25" marB="0"/>
                </a:tc>
                <a:tc>
                  <a:txBody>
                    <a:bodyPr/>
                    <a:lstStyle/>
                    <a:p>
                      <a:pPr marL="127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9.2%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5075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Whitt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100">
                <a:tc>
                  <a:txBody>
                    <a:bodyPr/>
                    <a:lstStyle/>
                    <a:p>
                      <a:pPr marL="0" marR="2540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775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177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24.3%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507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9.8%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7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8.1%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725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 b="1" u="none" strike="noStrike" cap="none">
                          <a:solidFill>
                            <a:srgbClr val="05050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Allen-Cunneen</a:t>
                      </a:r>
                      <a:endParaRPr sz="1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0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5" name="Google Shape;305;p39" descr="$PPTXTitle"/>
          <p:cNvSpPr txBox="1">
            <a:spLocks noGrp="1"/>
          </p:cNvSpPr>
          <p:nvPr>
            <p:ph type="title"/>
          </p:nvPr>
        </p:nvSpPr>
        <p:spPr>
          <a:xfrm>
            <a:off x="480728" y="40815"/>
            <a:ext cx="81825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Precision Matters: Validating M/G/N Approximations</a:t>
            </a:r>
            <a:endParaRPr/>
          </a:p>
        </p:txBody>
      </p:sp>
      <p:sp>
        <p:nvSpPr>
          <p:cNvPr id="306" name="Google Shape;306;p39"/>
          <p:cNvSpPr txBox="1"/>
          <p:nvPr/>
        </p:nvSpPr>
        <p:spPr>
          <a:xfrm>
            <a:off x="520751" y="541226"/>
            <a:ext cx="7641300" cy="22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300" rIns="0" bIns="0" anchor="t" anchorCtr="0">
            <a:spAutoFit/>
          </a:bodyPr>
          <a:lstStyle/>
          <a:p>
            <a:pPr marL="12700" marR="444500" lvl="0" indent="0" algn="l" rtl="0">
              <a:lnSpc>
                <a:spcPct val="1113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The Challenge: </a:t>
            </a:r>
            <a:r>
              <a:rPr lang="en-GB" sz="1500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M/G/N queues have no exact closed-form solution for waiting time and must be approximated. The choice of approximation method is critical for accuracy.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723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Our Method: </a:t>
            </a:r>
            <a:r>
              <a:rPr lang="en-GB" sz="1500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We implemented and validated three methods against simulation ground truth: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292100" lvl="0" indent="-146050" algn="l" rtl="0">
              <a:lnSpc>
                <a:spcPct val="112923"/>
              </a:lnSpc>
              <a:spcBef>
                <a:spcPts val="0"/>
              </a:spcBef>
              <a:spcAft>
                <a:spcPts val="0"/>
              </a:spcAft>
              <a:buClr>
                <a:srgbClr val="050503"/>
              </a:buClr>
              <a:buSzPts val="1500"/>
              <a:buFont typeface="Arial"/>
              <a:buChar char="•"/>
            </a:pPr>
            <a:r>
              <a:rPr lang="en-GB" sz="15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Kingman's Approximation </a:t>
            </a:r>
            <a:r>
              <a:rPr lang="en-GB" sz="1500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(1961) - A common baseline.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304800" lvl="0" indent="-158750" algn="l" rtl="0">
              <a:lnSpc>
                <a:spcPct val="112923"/>
              </a:lnSpc>
              <a:spcBef>
                <a:spcPts val="0"/>
              </a:spcBef>
              <a:spcAft>
                <a:spcPts val="0"/>
              </a:spcAft>
              <a:buClr>
                <a:srgbClr val="050503"/>
              </a:buClr>
              <a:buSzPts val="1500"/>
              <a:buFont typeface="Arial"/>
              <a:buChar char="•"/>
            </a:pPr>
            <a:r>
              <a:rPr lang="en-GB" sz="15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Whitt's Approximation </a:t>
            </a:r>
            <a:r>
              <a:rPr lang="en-GB" sz="1500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(1993) - Recommended for high utilization.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304800" lvl="0" indent="-158750" algn="l" rtl="0">
              <a:lnSpc>
                <a:spcPct val="117230"/>
              </a:lnSpc>
              <a:spcBef>
                <a:spcPts val="0"/>
              </a:spcBef>
              <a:spcAft>
                <a:spcPts val="0"/>
              </a:spcAft>
              <a:buClr>
                <a:srgbClr val="050503"/>
              </a:buClr>
              <a:buSzPts val="1500"/>
              <a:buFont typeface="Arial"/>
              <a:buChar char="•"/>
            </a:pPr>
            <a:r>
              <a:rPr lang="en-GB" sz="1500" b="1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Allen-Cunneen Approximation </a:t>
            </a:r>
            <a:r>
              <a:rPr lang="en-GB" sz="1500">
                <a:solidFill>
                  <a:srgbClr val="050503"/>
                </a:solidFill>
                <a:latin typeface="Arial"/>
                <a:ea typeface="Arial"/>
                <a:cs typeface="Arial"/>
                <a:sym typeface="Arial"/>
              </a:rPr>
              <a:t>(1990) - Suited for very heavy tails.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" name="Google Shape;311;p40"/>
          <p:cNvGraphicFramePr/>
          <p:nvPr/>
        </p:nvGraphicFramePr>
        <p:xfrm>
          <a:off x="589312" y="1050979"/>
          <a:ext cx="8200800" cy="4047362"/>
        </p:xfrm>
        <a:graphic>
          <a:graphicData uri="http://schemas.openxmlformats.org/drawingml/2006/table">
            <a:tbl>
              <a:tblPr firstRow="1" bandRow="1">
                <a:noFill/>
                <a:tableStyleId>{CDF61DBB-3150-42DC-BFF4-E4E6194877F5}</a:tableStyleId>
              </a:tblPr>
              <a:tblGrid>
                <a:gridCol w="20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150">
                <a:tc>
                  <a:txBody>
                    <a:bodyPr/>
                    <a:lstStyle/>
                    <a:p>
                      <a:pPr marL="381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50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 et al. (2015) Model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5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This Project's Framework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5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750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Workload Distribution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8450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Exponential (M/M/N)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845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Heavy-Tailed </a:t>
                      </a:r>
                      <a:r>
                        <a:rPr lang="en-GB" sz="1600" b="1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(Pareto,</a:t>
                      </a: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M/G/N)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845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25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Architecture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5575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Abstracted servers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557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317500" lvl="0" indent="0" algn="l" rtl="0">
                        <a:lnSpc>
                          <a:spcPct val="1091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Explicit Threading Models </a:t>
                      </a:r>
                      <a:r>
                        <a:rPr lang="en-GB" sz="1600" b="1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(Dedicated</a:t>
                      </a: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vs. Shared)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17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750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Analytical Accuracy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050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Basic Queueing Formulae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05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Advanced, Validated M/G/N Approximations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05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275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Scope of Model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5575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228600" lvl="0" indent="0" algn="l" rtl="0">
                        <a:lnSpc>
                          <a:spcPct val="1091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Tandem Queue, Visibility Timeout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285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139700" lvl="0" indent="0" algn="l" rtl="0">
                        <a:lnSpc>
                          <a:spcPct val="1125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Adds Protocols </a:t>
                      </a:r>
                      <a:r>
                        <a:rPr lang="en-GB" sz="1600" b="1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(Raft,</a:t>
                      </a: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2PC), Priority </a:t>
                      </a: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 </a:t>
                      </a: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Finite Queues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080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275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5575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749300" lvl="0" indent="0" algn="l" rtl="0">
                        <a:lnSpc>
                          <a:spcPct val="1091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Analytical vs. CPN Simulation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285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330200" lvl="0" indent="0" algn="l" rtl="0">
                        <a:lnSpc>
                          <a:spcPct val="1091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Analytical vs. SimPy Simulation </a:t>
                      </a:r>
                      <a:r>
                        <a:rPr lang="en-GB" sz="1500" u="none" strike="noStrike" cap="none">
                          <a:solidFill>
                            <a:srgbClr val="07050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 Unit Tests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285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750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Methodology/</a:t>
                      </a:r>
                      <a:r>
                        <a:rPr lang="en-GB" sz="1600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Tooling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050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Colored Petri Nets (CPN)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05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Discrete-Event Simulation </a:t>
                      </a:r>
                      <a:r>
                        <a:rPr lang="en-GB" sz="1600" b="1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(Python/SimPy)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05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475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Insight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8875" marB="0"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88900" marR="152400" lvl="0" indent="0" algn="l" rtl="0">
                        <a:lnSpc>
                          <a:spcPct val="1125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 performance under ideal conditions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4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88900" marR="152400" lvl="0" indent="0" algn="l" rtl="0">
                        <a:lnSpc>
                          <a:spcPct val="1125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Tail Latency </a:t>
                      </a:r>
                      <a:r>
                        <a:rPr lang="en-GB" sz="1600" b="1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(P99)</a:t>
                      </a:r>
                      <a:r>
                        <a:rPr lang="en-GB" sz="1600" b="1" u="none" strike="noStrike" cap="none">
                          <a:solidFill>
                            <a:srgbClr val="0705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under realistic, stressful conditions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425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Google Shape;312;p40" descr="$PPTXTitle"/>
          <p:cNvSpPr txBox="1">
            <a:spLocks noGrp="1"/>
          </p:cNvSpPr>
          <p:nvPr>
            <p:ph type="title"/>
          </p:nvPr>
        </p:nvSpPr>
        <p:spPr>
          <a:xfrm>
            <a:off x="380938" y="427666"/>
            <a:ext cx="82008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6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70505"/>
                </a:solidFill>
              </a:rPr>
              <a:t>The Full Picture: A Leap in Modeling Capability</a:t>
            </a:r>
            <a:endParaRPr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Diagram</a:t>
            </a:r>
            <a:endParaRPr/>
          </a:p>
        </p:txBody>
      </p:sp>
      <p:pic>
        <p:nvPicPr>
          <p:cNvPr id="318" name="Google Shape;318;p41" title="architecture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00" y="807875"/>
            <a:ext cx="8941575" cy="413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Queuing Network Diagram</a:t>
            </a:r>
            <a:endParaRPr/>
          </a:p>
        </p:txBody>
      </p:sp>
      <p:pic>
        <p:nvPicPr>
          <p:cNvPr id="324" name="Google Shape;324;p42" title="Queueing_Network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50" y="814065"/>
            <a:ext cx="7528300" cy="4106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>
            <a:spLocks noGrp="1"/>
          </p:cNvSpPr>
          <p:nvPr>
            <p:ph type="title"/>
          </p:nvPr>
        </p:nvSpPr>
        <p:spPr>
          <a:xfrm>
            <a:off x="256050" y="253350"/>
            <a:ext cx="8631900" cy="8505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Use Discrete-Event Simulation (DES)?</a:t>
            </a:r>
            <a:endParaRPr/>
          </a:p>
        </p:txBody>
      </p:sp>
      <p:sp>
        <p:nvSpPr>
          <p:cNvPr id="329" name="Google Shape;329;p43"/>
          <p:cNvSpPr txBox="1">
            <a:spLocks noGrp="1"/>
          </p:cNvSpPr>
          <p:nvPr>
            <p:ph type="body" idx="1"/>
          </p:nvPr>
        </p:nvSpPr>
        <p:spPr>
          <a:xfrm>
            <a:off x="1088166" y="1250719"/>
            <a:ext cx="1664100" cy="153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Moved from CPN to Python/SimPy for time modeling</a:t>
            </a:r>
            <a:endParaRPr/>
          </a:p>
        </p:txBody>
      </p:sp>
      <p:sp>
        <p:nvSpPr>
          <p:cNvPr id="330" name="Google Shape;330;p43"/>
          <p:cNvSpPr txBox="1">
            <a:spLocks noGrp="1"/>
          </p:cNvSpPr>
          <p:nvPr>
            <p:ph type="body" idx="3"/>
          </p:nvPr>
        </p:nvSpPr>
        <p:spPr>
          <a:xfrm>
            <a:off x="7223790" y="1249991"/>
            <a:ext cx="1664100" cy="153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SimPy captures actual millisecond-level network latency</a:t>
            </a:r>
            <a:endParaRPr/>
          </a:p>
        </p:txBody>
      </p:sp>
      <p:sp>
        <p:nvSpPr>
          <p:cNvPr id="331" name="Google Shape;331;p43"/>
          <p:cNvSpPr txBox="1">
            <a:spLocks noGrp="1"/>
          </p:cNvSpPr>
          <p:nvPr>
            <p:ph type="body" idx="4"/>
          </p:nvPr>
        </p:nvSpPr>
        <p:spPr>
          <a:xfrm>
            <a:off x="7223790" y="3353111"/>
            <a:ext cx="1664100" cy="153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 engine models resource contention and blocking</a:t>
            </a:r>
            <a:endParaRPr/>
          </a:p>
        </p:txBody>
      </p:sp>
      <p:sp>
        <p:nvSpPr>
          <p:cNvPr id="332" name="Google Shape;332;p43"/>
          <p:cNvSpPr txBox="1">
            <a:spLocks noGrp="1"/>
          </p:cNvSpPr>
          <p:nvPr>
            <p:ph type="body" idx="5"/>
          </p:nvPr>
        </p:nvSpPr>
        <p:spPr>
          <a:xfrm>
            <a:off x="1088166" y="3353839"/>
            <a:ext cx="1664100" cy="153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Allows modeling complex logic like Work Stealing</a:t>
            </a:r>
            <a:endParaRPr/>
          </a:p>
        </p:txBody>
      </p:sp>
      <p:pic>
        <p:nvPicPr>
          <p:cNvPr id="333" name="Google Shape;333;p43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5838" y="1471024"/>
            <a:ext cx="3173100" cy="3173100"/>
          </a:xfrm>
          <a:prstGeom prst="roundRect">
            <a:avLst>
              <a:gd name="adj" fmla="val 50000"/>
            </a:avLst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>
            <a:spLocks noGrp="1"/>
          </p:cNvSpPr>
          <p:nvPr>
            <p:ph type="title"/>
          </p:nvPr>
        </p:nvSpPr>
        <p:spPr>
          <a:xfrm>
            <a:off x="439778" y="126065"/>
            <a:ext cx="8182500" cy="4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Heterogeneity &amp; Resource Management</a:t>
            </a:r>
            <a:endParaRPr sz="2700"/>
          </a:p>
        </p:txBody>
      </p:sp>
      <p:sp>
        <p:nvSpPr>
          <p:cNvPr id="339" name="Google Shape;339;p44"/>
          <p:cNvSpPr txBox="1">
            <a:spLocks noGrp="1"/>
          </p:cNvSpPr>
          <p:nvPr>
            <p:ph type="body" idx="1"/>
          </p:nvPr>
        </p:nvSpPr>
        <p:spPr>
          <a:xfrm>
            <a:off x="97925" y="640925"/>
            <a:ext cx="8866200" cy="409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 The "Problem" (Random Routing)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321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 b="1">
                <a:solidFill>
                  <a:schemeClr val="dk1"/>
                </a:solidFill>
              </a:rPr>
              <a:t>The Mechanism:</a:t>
            </a:r>
            <a:r>
              <a:rPr lang="en-GB" sz="1100">
                <a:solidFill>
                  <a:schemeClr val="dk1"/>
                </a:solidFill>
              </a:rPr>
              <a:t> implemented a Random or Round-Robin load balancer. This is the industry standard for simple systems.</a:t>
            </a:r>
            <a:endParaRPr sz="1100">
              <a:solidFill>
                <a:schemeClr val="dk1"/>
              </a:solidFill>
            </a:endParaRPr>
          </a:p>
          <a:p>
            <a:pPr marL="457200" lvl="0" indent="-29321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 b="1">
                <a:solidFill>
                  <a:schemeClr val="dk1"/>
                </a:solidFill>
              </a:rPr>
              <a:t>The Flaw:</a:t>
            </a:r>
            <a:r>
              <a:rPr lang="en-GB" sz="1100">
                <a:solidFill>
                  <a:schemeClr val="dk1"/>
                </a:solidFill>
              </a:rPr>
              <a:t> It gives the same number of tasks to a Fast Node and a Legacy Node.</a:t>
            </a:r>
            <a:endParaRPr sz="1100">
              <a:solidFill>
                <a:schemeClr val="dk1"/>
              </a:solidFill>
            </a:endParaRPr>
          </a:p>
          <a:p>
            <a:pPr marL="457200" lvl="0" indent="-29321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 b="1">
                <a:solidFill>
                  <a:schemeClr val="dk1"/>
                </a:solidFill>
              </a:rPr>
              <a:t>The Math: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The "Solution" (Work Stealing)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3211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 b="1">
                <a:solidFill>
                  <a:schemeClr val="dk1"/>
                </a:solidFill>
              </a:rPr>
              <a:t>The Logic:</a:t>
            </a:r>
            <a:r>
              <a:rPr lang="en-GB" sz="1100">
                <a:solidFill>
                  <a:schemeClr val="dk1"/>
                </a:solidFill>
              </a:rPr>
              <a:t> Instead of trying to </a:t>
            </a:r>
            <a:r>
              <a:rPr lang="en-GB" sz="1100" i="1">
                <a:solidFill>
                  <a:schemeClr val="dk1"/>
                </a:solidFill>
              </a:rPr>
              <a:t>push</a:t>
            </a:r>
            <a:r>
              <a:rPr lang="en-GB" sz="1100">
                <a:solidFill>
                  <a:schemeClr val="dk1"/>
                </a:solidFill>
              </a:rPr>
              <a:t> tasks perfectly (which is hard), we allow consumers to </a:t>
            </a:r>
            <a:r>
              <a:rPr lang="en-GB" sz="1100" i="1">
                <a:solidFill>
                  <a:schemeClr val="dk1"/>
                </a:solidFill>
              </a:rPr>
              <a:t>pull</a:t>
            </a:r>
            <a:r>
              <a:rPr lang="en-GB" sz="1100">
                <a:solidFill>
                  <a:schemeClr val="dk1"/>
                </a:solidFill>
              </a:rPr>
              <a:t> tasks.</a:t>
            </a:r>
            <a:endParaRPr sz="1100">
              <a:solidFill>
                <a:schemeClr val="dk1"/>
              </a:solidFill>
            </a:endParaRPr>
          </a:p>
          <a:p>
            <a:pPr marL="457200" lvl="0" indent="-29321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 b="1">
                <a:solidFill>
                  <a:schemeClr val="dk1"/>
                </a:solidFill>
              </a:rPr>
              <a:t>The Algorithm: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321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Tasks are initially routed randomly (fast).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321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</a:t>
            </a:r>
            <a:r>
              <a:rPr lang="en-GB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 Node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finishes its work and its queue is empty: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321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strictly checks the </a:t>
            </a:r>
            <a:r>
              <a:rPr lang="en-GB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Node's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queue.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321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tasks are waiting, it </a:t>
            </a:r>
            <a:r>
              <a:rPr lang="en-GB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steals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one and processes it at the high speed ($\mu_{fast}$).</a:t>
            </a: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-293211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 b="1">
                <a:solidFill>
                  <a:schemeClr val="dk1"/>
                </a:solidFill>
              </a:rPr>
              <a:t>The Result:</a:t>
            </a:r>
            <a:r>
              <a:rPr lang="en-GB" sz="1100">
                <a:solidFill>
                  <a:schemeClr val="dk1"/>
                </a:solidFill>
              </a:rPr>
              <a:t> The Legacy Node never drowns because the Fast Nodes act as a "pressure release valve" for the system.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0" name="Google Shape;3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7100" y="2571749"/>
            <a:ext cx="2474725" cy="134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7925" y="1353675"/>
            <a:ext cx="554355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"/>
          <p:cNvSpPr txBox="1">
            <a:spLocks noGrp="1"/>
          </p:cNvSpPr>
          <p:nvPr>
            <p:ph type="title"/>
          </p:nvPr>
        </p:nvSpPr>
        <p:spPr>
          <a:xfrm>
            <a:off x="534128" y="45940"/>
            <a:ext cx="8182500" cy="4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Implementation of Consistency Protocols</a:t>
            </a:r>
            <a:endParaRPr/>
          </a:p>
        </p:txBody>
      </p:sp>
      <p:sp>
        <p:nvSpPr>
          <p:cNvPr id="347" name="Google Shape;347;p45"/>
          <p:cNvSpPr txBox="1">
            <a:spLocks noGrp="1"/>
          </p:cNvSpPr>
          <p:nvPr>
            <p:ph type="body" idx="1"/>
          </p:nvPr>
        </p:nvSpPr>
        <p:spPr>
          <a:xfrm>
            <a:off x="0" y="560825"/>
            <a:ext cx="9017700" cy="45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Implementation of Consistency Protocols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Deterministic Consistency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i="1">
                <a:solidFill>
                  <a:schemeClr val="dk1"/>
                </a:solidFill>
              </a:rPr>
              <a:t>Context:</a:t>
            </a:r>
            <a:r>
              <a:rPr lang="en-GB" sz="1100">
                <a:solidFill>
                  <a:schemeClr val="dk1"/>
                </a:solidFill>
              </a:rPr>
              <a:t> The Li et al. paper relies on a </a:t>
            </a:r>
            <a:r>
              <a:rPr lang="en-GB" sz="1100" b="1">
                <a:solidFill>
                  <a:schemeClr val="dk1"/>
                </a:solidFill>
              </a:rPr>
              <a:t>Visibility Timeout</a:t>
            </a:r>
            <a:r>
              <a:rPr lang="en-GB" sz="1100">
                <a:solidFill>
                  <a:schemeClr val="dk1"/>
                </a:solidFill>
              </a:rPr>
              <a:t> mechanism. This is probabilistic—if a node crashes </a:t>
            </a:r>
            <a:r>
              <a:rPr lang="en-GB" sz="1100" i="1">
                <a:solidFill>
                  <a:schemeClr val="dk1"/>
                </a:solidFill>
              </a:rPr>
              <a:t>after</a:t>
            </a:r>
            <a:r>
              <a:rPr lang="en-GB" sz="1100">
                <a:solidFill>
                  <a:schemeClr val="dk1"/>
                </a:solidFill>
              </a:rPr>
              <a:t> receiving a message but </a:t>
            </a:r>
            <a:r>
              <a:rPr lang="en-GB" sz="1100" i="1">
                <a:solidFill>
                  <a:schemeClr val="dk1"/>
                </a:solidFill>
              </a:rPr>
              <a:t>before</a:t>
            </a:r>
            <a:r>
              <a:rPr lang="en-GB" sz="1100">
                <a:solidFill>
                  <a:schemeClr val="dk1"/>
                </a:solidFill>
              </a:rPr>
              <a:t> replicating it, data is lost.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i="1">
                <a:solidFill>
                  <a:schemeClr val="dk1"/>
                </a:solidFill>
              </a:rPr>
              <a:t>Your Fix:</a:t>
            </a:r>
            <a:r>
              <a:rPr lang="en-GB" sz="1100">
                <a:solidFill>
                  <a:schemeClr val="dk1"/>
                </a:solidFill>
              </a:rPr>
              <a:t> TraceBreaker implements </a:t>
            </a:r>
            <a:r>
              <a:rPr lang="en-GB" sz="1100" b="1">
                <a:solidFill>
                  <a:schemeClr val="dk1"/>
                </a:solidFill>
              </a:rPr>
              <a:t>Two-Phase Commit (2PC)</a:t>
            </a:r>
            <a:r>
              <a:rPr lang="en-GB" sz="1100">
                <a:solidFill>
                  <a:schemeClr val="dk1"/>
                </a:solidFill>
              </a:rPr>
              <a:t>. This ensures that a message is not acknowledged to the user until it is physically replicated on the consensus layer.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The Blocking Mechanism 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i="1">
                <a:solidFill>
                  <a:schemeClr val="dk1"/>
                </a:solidFill>
              </a:rPr>
              <a:t>Technical Detail:</a:t>
            </a:r>
            <a:r>
              <a:rPr lang="en-GB" sz="1100">
                <a:solidFill>
                  <a:schemeClr val="dk1"/>
                </a:solidFill>
              </a:rPr>
              <a:t> In standard M/M/n queues, the service time ($\mu$) is purely CPU processing time. In your 2PC model, service time becomes $\mu + 2 \times RTT$.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i="1">
                <a:solidFill>
                  <a:schemeClr val="dk1"/>
                </a:solidFill>
              </a:rPr>
              <a:t>The Lock:</a:t>
            </a:r>
            <a:r>
              <a:rPr lang="en-GB" sz="1100">
                <a:solidFill>
                  <a:schemeClr val="dk1"/>
                </a:solidFill>
              </a:rPr>
              <a:t> During the </a:t>
            </a:r>
            <a:r>
              <a:rPr lang="en-GB" sz="1100">
                <a:solidFill>
                  <a:srgbClr val="188038"/>
                </a:solidFill>
              </a:rPr>
              <a:t>PREPARE</a:t>
            </a:r>
            <a:r>
              <a:rPr lang="en-GB" sz="1100">
                <a:solidFill>
                  <a:schemeClr val="dk1"/>
                </a:solidFill>
              </a:rPr>
              <a:t> phase, the worker thread holds the request but </a:t>
            </a:r>
            <a:r>
              <a:rPr lang="en-GB" sz="1100" b="1">
                <a:solidFill>
                  <a:schemeClr val="dk1"/>
                </a:solidFill>
              </a:rPr>
              <a:t>cannot do work</a:t>
            </a:r>
            <a:r>
              <a:rPr lang="en-GB" sz="1100">
                <a:solidFill>
                  <a:schemeClr val="dk1"/>
                </a:solidFill>
              </a:rPr>
              <a:t>. It is purely waiting for the network. This effectively reduces the server's capacity.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Latency Consequence:</a:t>
            </a:r>
            <a:r>
              <a:rPr lang="en-GB" sz="1100">
                <a:solidFill>
                  <a:schemeClr val="dk1"/>
                </a:solidFill>
              </a:rPr>
              <a:t> This introduces a mandatory </a:t>
            </a:r>
            <a:r>
              <a:rPr lang="en-GB" sz="1100" b="1">
                <a:solidFill>
                  <a:schemeClr val="dk1"/>
                </a:solidFill>
              </a:rPr>
              <a:t>Network Round Trip (RTT)</a:t>
            </a:r>
            <a:r>
              <a:rPr lang="en-GB" sz="1100">
                <a:solidFill>
                  <a:schemeClr val="dk1"/>
                </a:solidFill>
              </a:rPr>
              <a:t> penalty, mathematically establishing the "Cost of Safety."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pic>
        <p:nvPicPr>
          <p:cNvPr id="348" name="Google Shape;348;p45" title="Untitled diagram-2025-12-01-2355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9675" y="3367125"/>
            <a:ext cx="2179476" cy="17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 txBox="1">
            <a:spLocks noGrp="1"/>
          </p:cNvSpPr>
          <p:nvPr>
            <p:ph type="title"/>
          </p:nvPr>
        </p:nvSpPr>
        <p:spPr>
          <a:xfrm>
            <a:off x="480753" y="95790"/>
            <a:ext cx="8182500" cy="4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Tail Latency Analysis (Extreme Value Theory)</a:t>
            </a:r>
            <a:endParaRPr/>
          </a:p>
        </p:txBody>
      </p:sp>
      <p:sp>
        <p:nvSpPr>
          <p:cNvPr id="354" name="Google Shape;354;p46"/>
          <p:cNvSpPr txBox="1">
            <a:spLocks noGrp="1"/>
          </p:cNvSpPr>
          <p:nvPr>
            <p:ph type="body" idx="1"/>
          </p:nvPr>
        </p:nvSpPr>
        <p:spPr>
          <a:xfrm>
            <a:off x="79850" y="756175"/>
            <a:ext cx="4434900" cy="429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The "Normal" Fallacy: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8273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Standard capacity planning relies on the </a:t>
            </a:r>
            <a:r>
              <a:rPr lang="en-GB" sz="1100" b="1">
                <a:solidFill>
                  <a:schemeClr val="dk1"/>
                </a:solidFill>
              </a:rPr>
              <a:t>Central Limit Theorem</a:t>
            </a:r>
            <a:r>
              <a:rPr lang="en-GB" sz="1100">
                <a:solidFill>
                  <a:schemeClr val="dk1"/>
                </a:solidFill>
              </a:rPr>
              <a:t>, assuming that if you average enough request latencies, they form a </a:t>
            </a:r>
            <a:r>
              <a:rPr lang="en-GB" sz="1100" b="1">
                <a:solidFill>
                  <a:schemeClr val="dk1"/>
                </a:solidFill>
              </a:rPr>
              <a:t>Normal Distribution</a:t>
            </a:r>
            <a:r>
              <a:rPr lang="en-GB" sz="1100">
                <a:solidFill>
                  <a:schemeClr val="dk1"/>
                </a:solidFill>
              </a:rPr>
              <a:t> (Bell Curve).</a:t>
            </a:r>
            <a:endParaRPr sz="1100">
              <a:solidFill>
                <a:schemeClr val="dk1"/>
              </a:solidFill>
            </a:endParaRPr>
          </a:p>
          <a:p>
            <a:pPr marL="457200" lvl="0" indent="-2827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 b="1">
                <a:solidFill>
                  <a:schemeClr val="dk1"/>
                </a:solidFill>
              </a:rPr>
              <a:t>The Flaw:</a:t>
            </a:r>
            <a:r>
              <a:rPr lang="en-GB" sz="1100">
                <a:solidFill>
                  <a:schemeClr val="dk1"/>
                </a:solidFill>
              </a:rPr>
              <a:t> A Normal distribution has "thin tails"—the probability of an event deviating 3σ from the mean is tiny (0.3%), and 6σ is effectively impossible.</a:t>
            </a:r>
            <a:endParaRPr sz="1100">
              <a:solidFill>
                <a:schemeClr val="dk1"/>
              </a:solidFill>
            </a:endParaRPr>
          </a:p>
          <a:p>
            <a:pPr marL="457200" lvl="0" indent="-2827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 b="1">
                <a:solidFill>
                  <a:schemeClr val="dk1"/>
                </a:solidFill>
              </a:rPr>
              <a:t>The Reality:</a:t>
            </a:r>
            <a:r>
              <a:rPr lang="en-GB" sz="1100">
                <a:solidFill>
                  <a:schemeClr val="dk1"/>
                </a:solidFill>
              </a:rPr>
              <a:t> Our simulation proves cloud latency follows a </a:t>
            </a:r>
            <a:r>
              <a:rPr lang="en-GB" sz="1100" b="1">
                <a:solidFill>
                  <a:schemeClr val="dk1"/>
                </a:solidFill>
              </a:rPr>
              <a:t>Heavy-Tailed Distribution</a:t>
            </a:r>
            <a:r>
              <a:rPr lang="en-GB" sz="1100">
                <a:solidFill>
                  <a:schemeClr val="dk1"/>
                </a:solidFill>
              </a:rPr>
              <a:t>. Extreme latency events (outliers) are not rare anomalies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</a:rPr>
              <a:t>The Gaussian Fallacy: Standard P99 Approximation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Equation: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R99 ≈ μ + 2.33σ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Variables: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8273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μ: Mean Response Time (E[R])</a:t>
            </a:r>
            <a:endParaRPr sz="1100">
              <a:solidFill>
                <a:schemeClr val="dk1"/>
              </a:solidFill>
            </a:endParaRPr>
          </a:p>
          <a:p>
            <a:pPr marL="457200" lvl="0" indent="-2827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σ: Standard Deviation of Response Time σ</a:t>
            </a:r>
            <a:endParaRPr sz="1100">
              <a:solidFill>
                <a:schemeClr val="dk1"/>
              </a:solidFill>
            </a:endParaRPr>
          </a:p>
          <a:p>
            <a:pPr marL="457200" lvl="0" indent="-2827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2.33: Z-score corresponding to the $99^{th}$ percentile of a Normal distribution.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The Critical Flaw: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8273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 b="1">
                <a:solidFill>
                  <a:schemeClr val="dk1"/>
                </a:solidFill>
              </a:rPr>
              <a:t>Assumption:</a:t>
            </a:r>
            <a:r>
              <a:rPr lang="en-GB" sz="1100">
                <a:solidFill>
                  <a:schemeClr val="dk1"/>
                </a:solidFill>
              </a:rPr>
              <a:t> This formula assumes latency follows a </a:t>
            </a:r>
            <a:r>
              <a:rPr lang="en-GB" sz="1100" b="1">
                <a:solidFill>
                  <a:schemeClr val="dk1"/>
                </a:solidFill>
              </a:rPr>
              <a:t>Normal (Gaussian) Distribution</a:t>
            </a:r>
            <a:r>
              <a:rPr lang="en-GB" sz="1100">
                <a:solidFill>
                  <a:schemeClr val="dk1"/>
                </a:solidFill>
              </a:rPr>
              <a:t>, where probability decays exponentially (e−x2)</a:t>
            </a:r>
            <a:endParaRPr sz="1100">
              <a:solidFill>
                <a:schemeClr val="dk1"/>
              </a:solidFill>
            </a:endParaRPr>
          </a:p>
          <a:p>
            <a:pPr marL="457200" lvl="0" indent="-2827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 b="1">
                <a:solidFill>
                  <a:schemeClr val="dk1"/>
                </a:solidFill>
              </a:rPr>
              <a:t>Reality:</a:t>
            </a:r>
            <a:r>
              <a:rPr lang="en-GB" sz="1100">
                <a:solidFill>
                  <a:schemeClr val="dk1"/>
                </a:solidFill>
              </a:rPr>
              <a:t> Cloud latency follows a </a:t>
            </a:r>
            <a:r>
              <a:rPr lang="en-GB" sz="1100" b="1">
                <a:solidFill>
                  <a:schemeClr val="dk1"/>
                </a:solidFill>
              </a:rPr>
              <a:t>Heavy-Tailed (Pareto) Distribution</a:t>
            </a:r>
            <a:r>
              <a:rPr lang="en-GB" sz="1100">
                <a:solidFill>
                  <a:schemeClr val="dk1"/>
                </a:solidFill>
              </a:rPr>
              <a:t>, where probability decays polynomially (x−α)</a:t>
            </a:r>
            <a:endParaRPr sz="1100">
              <a:solidFill>
                <a:schemeClr val="dk1"/>
              </a:solidFill>
            </a:endParaRPr>
          </a:p>
          <a:p>
            <a:pPr marL="457200" lvl="0" indent="-28273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 b="1">
                <a:solidFill>
                  <a:schemeClr val="dk1"/>
                </a:solidFill>
              </a:rPr>
              <a:t>Consequence:</a:t>
            </a:r>
            <a:r>
              <a:rPr lang="en-GB" sz="1100">
                <a:solidFill>
                  <a:schemeClr val="dk1"/>
                </a:solidFill>
              </a:rPr>
              <a:t> For heavy-tailed workloads, the standard approximation </a:t>
            </a:r>
            <a:r>
              <a:rPr lang="en-GB" sz="1100" b="1">
                <a:solidFill>
                  <a:schemeClr val="dk1"/>
                </a:solidFill>
              </a:rPr>
              <a:t>underestimates the P99 latency by &gt;2x</a:t>
            </a:r>
            <a:r>
              <a:rPr lang="en-GB" sz="1100">
                <a:solidFill>
                  <a:schemeClr val="dk1"/>
                </a:solidFill>
              </a:rPr>
              <a:t>, as outliers are structural features, not anomalies.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6"/>
          <p:cNvSpPr txBox="1">
            <a:spLocks noGrp="1"/>
          </p:cNvSpPr>
          <p:nvPr>
            <p:ph type="body" idx="2"/>
          </p:nvPr>
        </p:nvSpPr>
        <p:spPr>
          <a:xfrm>
            <a:off x="4709150" y="802100"/>
            <a:ext cx="4349100" cy="376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The Solution (EVT &amp; GPD):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Instead of trying to fit the "average" behavior, you applied </a:t>
            </a:r>
            <a:r>
              <a:rPr lang="en-GB" sz="1100" b="1">
                <a:solidFill>
                  <a:schemeClr val="dk1"/>
                </a:solidFill>
              </a:rPr>
              <a:t>Extreme Value Theory (EVT)</a:t>
            </a:r>
            <a:r>
              <a:rPr lang="en-GB" sz="1100">
                <a:solidFill>
                  <a:schemeClr val="dk1"/>
                </a:solidFill>
              </a:rPr>
              <a:t>, specifically the </a:t>
            </a:r>
            <a:r>
              <a:rPr lang="en-GB" sz="1100" b="1">
                <a:solidFill>
                  <a:schemeClr val="dk1"/>
                </a:solidFill>
              </a:rPr>
              <a:t>Peaks Over Threshold (POT)</a:t>
            </a:r>
            <a:r>
              <a:rPr lang="en-GB" sz="1100">
                <a:solidFill>
                  <a:schemeClr val="dk1"/>
                </a:solidFill>
              </a:rPr>
              <a:t> method.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modeled the tail excess using the </a:t>
            </a:r>
            <a:r>
              <a:rPr lang="en-GB" sz="1100" b="1">
                <a:solidFill>
                  <a:schemeClr val="dk1"/>
                </a:solidFill>
              </a:rPr>
              <a:t>Generalized Pareto Distribution (GPD)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Why it matters:</a:t>
            </a:r>
            <a:r>
              <a:rPr lang="en-GB" sz="1100">
                <a:solidFill>
                  <a:schemeClr val="dk1"/>
                </a:solidFill>
              </a:rPr>
              <a:t> GPD accurately predicts that the probability of a massive delay (e.g., $&gt;5s$) decays </a:t>
            </a:r>
            <a:r>
              <a:rPr lang="en-GB" sz="1100" i="1">
                <a:solidFill>
                  <a:schemeClr val="dk1"/>
                </a:solidFill>
              </a:rPr>
              <a:t>polynomially</a:t>
            </a:r>
            <a:r>
              <a:rPr lang="en-GB" sz="1100">
                <a:solidFill>
                  <a:schemeClr val="dk1"/>
                </a:solidFill>
              </a:rPr>
              <a:t> (slowly), not </a:t>
            </a:r>
            <a:r>
              <a:rPr lang="en-GB" sz="1100" i="1">
                <a:solidFill>
                  <a:schemeClr val="dk1"/>
                </a:solidFill>
              </a:rPr>
              <a:t>exponentially</a:t>
            </a:r>
            <a:r>
              <a:rPr lang="en-GB" sz="1100">
                <a:solidFill>
                  <a:schemeClr val="dk1"/>
                </a:solidFill>
              </a:rPr>
              <a:t> (fast). This mathematical difference is the "Reality Gap".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6" name="Google Shape;356;p46" title="tail_ris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2437" y="3263500"/>
            <a:ext cx="2942525" cy="17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480753" y="86265"/>
            <a:ext cx="8182500" cy="4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Threading Architectures</a:t>
            </a:r>
            <a:endParaRPr/>
          </a:p>
        </p:txBody>
      </p:sp>
      <p:sp>
        <p:nvSpPr>
          <p:cNvPr id="362" name="Google Shape;362;p47"/>
          <p:cNvSpPr txBox="1">
            <a:spLocks noGrp="1"/>
          </p:cNvSpPr>
          <p:nvPr>
            <p:ph type="body" idx="1"/>
          </p:nvPr>
        </p:nvSpPr>
        <p:spPr>
          <a:xfrm>
            <a:off x="85725" y="838200"/>
            <a:ext cx="4349100" cy="39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Architecture 1: Dedicated Threads (Paper's Assumption)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Thread-per-request model.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Flaw:</a:t>
            </a:r>
            <a:r>
              <a:rPr lang="en-GB" sz="1100">
                <a:solidFill>
                  <a:schemeClr val="dk1"/>
                </a:solidFill>
              </a:rPr>
              <a:t> Infinite resource assumption. If Nthreads &lt; Arrivals, latency spikes due to context switching overhead.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Architecture 2: Shared Worker Pool (Our Project)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Fixed pool of $N$ workers consuming from a shared queue.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Finite Capacity:</a:t>
            </a:r>
            <a:r>
              <a:rPr lang="en-GB" sz="1100">
                <a:solidFill>
                  <a:schemeClr val="dk1"/>
                </a:solidFill>
              </a:rPr>
              <a:t> Implemented </a:t>
            </a:r>
            <a:r>
              <a:rPr lang="en-GB" sz="1100" b="1">
                <a:solidFill>
                  <a:schemeClr val="dk1"/>
                </a:solidFill>
              </a:rPr>
              <a:t>M/M/N/K</a:t>
            </a:r>
            <a:r>
              <a:rPr lang="en-GB" sz="1100">
                <a:solidFill>
                  <a:schemeClr val="dk1"/>
                </a:solidFill>
              </a:rPr>
              <a:t> queueing logic.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The Result:</a:t>
            </a:r>
            <a:r>
              <a:rPr lang="en-GB" sz="1100">
                <a:solidFill>
                  <a:schemeClr val="dk1"/>
                </a:solidFill>
              </a:rPr>
              <a:t> Modeled </a:t>
            </a:r>
            <a:r>
              <a:rPr lang="en-GB" sz="1100" b="1">
                <a:solidFill>
                  <a:schemeClr val="dk1"/>
                </a:solidFill>
              </a:rPr>
              <a:t>Erlang-B Blocking</a:t>
            </a:r>
            <a:r>
              <a:rPr lang="en-GB" sz="1100">
                <a:solidFill>
                  <a:schemeClr val="dk1"/>
                </a:solidFill>
              </a:rPr>
              <a:t>. When the buffer $K$ is full, arrivals are rejected (Load Shedding).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  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The Equation (Finite Capacity Blocking):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Modeled a Finite Capacity system (M/M/N/K). Using the Erlang-B formula, Calculated the exact probability of a request being rejected when the thread pool is saturated. This is the mathematical basis for my Load Shedding strategy.</a:t>
            </a:r>
            <a:endParaRPr sz="1100"/>
          </a:p>
        </p:txBody>
      </p:sp>
      <p:sp>
        <p:nvSpPr>
          <p:cNvPr id="363" name="Google Shape;363;p47"/>
          <p:cNvSpPr txBox="1">
            <a:spLocks noGrp="1"/>
          </p:cNvSpPr>
          <p:nvPr>
            <p:ph type="body" idx="2"/>
          </p:nvPr>
        </p:nvSpPr>
        <p:spPr>
          <a:xfrm>
            <a:off x="4572000" y="600075"/>
            <a:ext cx="4486200" cy="44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Modeling Concurrency Overhead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Standard models assume N threads provide N × capacity. In reality, context switching (α) degrades performance as concurrency grows.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Variables: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μ:: Base Service Rate (Ideal).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α Overhead Coefficient (Context Switch Cost, e.g., 0.1).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Nactive: Active Connections.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Nthreads: Size of Worker Pool.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pic>
        <p:nvPicPr>
          <p:cNvPr id="364" name="Google Shape;36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425" y="3319463"/>
            <a:ext cx="14287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4988" y="1247775"/>
            <a:ext cx="1647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7" title="plot_3_threading_comparis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1400" y="3114675"/>
            <a:ext cx="2840576" cy="183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 descr="$PPTXTitle"/>
          <p:cNvSpPr txBox="1">
            <a:spLocks noGrp="1"/>
          </p:cNvSpPr>
          <p:nvPr>
            <p:ph type="title"/>
          </p:nvPr>
        </p:nvSpPr>
        <p:spPr>
          <a:xfrm>
            <a:off x="513892" y="417567"/>
            <a:ext cx="79311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6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050505"/>
                </a:solidFill>
              </a:rPr>
              <a:t>Key Discoveries Unlocked by the	Enhanced Model</a:t>
            </a:r>
            <a:endParaRPr sz="2900"/>
          </a:p>
        </p:txBody>
      </p:sp>
      <p:sp>
        <p:nvSpPr>
          <p:cNvPr id="372" name="Google Shape;372;p48"/>
          <p:cNvSpPr txBox="1"/>
          <p:nvPr/>
        </p:nvSpPr>
        <p:spPr>
          <a:xfrm>
            <a:off x="485017" y="1329773"/>
            <a:ext cx="8235000" cy="3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330200" marR="127000" lvl="0" indent="-285750" algn="just" rtl="0">
              <a:lnSpc>
                <a:spcPct val="88900"/>
              </a:lnSpc>
              <a:spcBef>
                <a:spcPts val="0"/>
              </a:spcBef>
              <a:spcAft>
                <a:spcPts val="0"/>
              </a:spcAft>
              <a:buClr>
                <a:srgbClr val="053156"/>
              </a:buClr>
              <a:buSzPts val="1700"/>
              <a:buFont typeface="Arial"/>
              <a:buChar char="■"/>
            </a:pPr>
            <a:r>
              <a:rPr lang="en-GB" sz="1500" b="1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Heavy tails are the primary driver of high P99 latency, </a:t>
            </a:r>
            <a:r>
              <a:rPr lang="en-GB" sz="15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a factor completely missed by 	exponential models. For distributions with </a:t>
            </a:r>
            <a:r>
              <a:rPr lang="en-GB" sz="19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800">
                <a:solidFill>
                  <a:srgbClr val="1818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</a:t>
            </a:r>
            <a:r>
              <a:rPr lang="en-GB" sz="15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2 (infinite variance), the P99/mean ratio 	exceeds 30x.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330200" lvl="0" indent="-285750" algn="just" rtl="0">
              <a:lnSpc>
                <a:spcPct val="117014"/>
              </a:lnSpc>
              <a:spcBef>
                <a:spcPts val="900"/>
              </a:spcBef>
              <a:spcAft>
                <a:spcPts val="0"/>
              </a:spcAft>
              <a:buClr>
                <a:srgbClr val="053156"/>
              </a:buClr>
              <a:buSzPts val="1700"/>
              <a:buFont typeface="Arial"/>
              <a:buChar char="■"/>
            </a:pPr>
            <a:r>
              <a:rPr lang="en-GB" sz="15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At high utilization (p </a:t>
            </a:r>
            <a:r>
              <a:rPr lang="en-GB" sz="18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</a:t>
            </a:r>
            <a:r>
              <a:rPr lang="en-GB" sz="15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GB" sz="1500">
                <a:solidFill>
                  <a:srgbClr val="2F2D2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GB" sz="15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8), </a:t>
            </a:r>
            <a:r>
              <a:rPr lang="en-GB" sz="1500" b="1">
                <a:solidFill>
                  <a:srgbClr val="050505"/>
                </a:solidFill>
              </a:rPr>
              <a:t>Kingsman</a:t>
            </a:r>
            <a:r>
              <a:rPr lang="en-GB" sz="1500" b="1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 (1993) approximation consistently outperforms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330200" lvl="0" indent="0" algn="just" rtl="0">
              <a:lnSpc>
                <a:spcPct val="116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baseline methods, providing the most robust analytical tool for M/G/N queues.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330200" marR="50800" lvl="0" indent="-285750" algn="l" rtl="0">
              <a:lnSpc>
                <a:spcPct val="115932"/>
              </a:lnSpc>
              <a:spcBef>
                <a:spcPts val="1300"/>
              </a:spcBef>
              <a:spcAft>
                <a:spcPts val="0"/>
              </a:spcAft>
              <a:buClr>
                <a:srgbClr val="053156"/>
              </a:buClr>
              <a:buSzPts val="1700"/>
              <a:buFont typeface="Arial"/>
              <a:buChar char="■"/>
            </a:pPr>
            <a:r>
              <a:rPr lang="en-GB" sz="15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Shared threading introduces a predictable </a:t>
            </a:r>
            <a:r>
              <a:rPr lang="en-GB" sz="1500" b="1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10-15% performance overhead </a:t>
            </a:r>
            <a:r>
              <a:rPr lang="en-GB" sz="15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in exchange 	for near-unlimited connection scalability, clarifying a fundamental design trade-off.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330200" marR="812800" lvl="0" indent="-285750" algn="l" rtl="0">
              <a:lnSpc>
                <a:spcPct val="101333"/>
              </a:lnSpc>
              <a:spcBef>
                <a:spcPts val="1200"/>
              </a:spcBef>
              <a:spcAft>
                <a:spcPts val="0"/>
              </a:spcAft>
              <a:buClr>
                <a:srgbClr val="053156"/>
              </a:buClr>
              <a:buSzPts val="1700"/>
              <a:buFont typeface="Arial"/>
              <a:buChar char="■"/>
            </a:pPr>
            <a:r>
              <a:rPr lang="en-GB" sz="15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The tandem queue </a:t>
            </a:r>
            <a:r>
              <a:rPr lang="en-GB" sz="1500" b="1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load amplification </a:t>
            </a:r>
            <a:r>
              <a:rPr lang="en-GB" sz="15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(/\</a:t>
            </a:r>
            <a:r>
              <a:rPr lang="en-GB" sz="1800" baseline="-25000">
                <a:solidFill>
                  <a:srgbClr val="2F2D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15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= A/(1-p)) is critical; Stage 2 requires 	significantly more capacity than Stage 1, especially with unreliable networks.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330200" marR="508000" lvl="0" indent="-285750" algn="l" rtl="0">
              <a:lnSpc>
                <a:spcPct val="115932"/>
              </a:lnSpc>
              <a:spcBef>
                <a:spcPts val="1200"/>
              </a:spcBef>
              <a:spcAft>
                <a:spcPts val="0"/>
              </a:spcAft>
              <a:buClr>
                <a:srgbClr val="053156"/>
              </a:buClr>
              <a:buSzPts val="1700"/>
              <a:buFont typeface="Arial"/>
              <a:buChar char="■"/>
            </a:pPr>
            <a:r>
              <a:rPr lang="en-GB" sz="15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Systems can remain stable under extreme load (p=0.99), but with explosive queue 	growth, making </a:t>
            </a:r>
            <a:r>
              <a:rPr lang="en-GB" sz="1500" b="1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P99 the only meaningful performance metric in saturation.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"/>
          <p:cNvSpPr txBox="1">
            <a:spLocks noGrp="1"/>
          </p:cNvSpPr>
          <p:nvPr>
            <p:ph type="title"/>
          </p:nvPr>
        </p:nvSpPr>
        <p:spPr>
          <a:xfrm>
            <a:off x="480753" y="93515"/>
            <a:ext cx="8182500" cy="4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Pareto Function and Variance</a:t>
            </a:r>
            <a:endParaRPr/>
          </a:p>
        </p:txBody>
      </p:sp>
      <p:sp>
        <p:nvSpPr>
          <p:cNvPr id="378" name="Google Shape;378;p49"/>
          <p:cNvSpPr txBox="1">
            <a:spLocks noGrp="1"/>
          </p:cNvSpPr>
          <p:nvPr>
            <p:ph type="body" idx="1"/>
          </p:nvPr>
        </p:nvSpPr>
        <p:spPr>
          <a:xfrm>
            <a:off x="210000" y="918475"/>
            <a:ext cx="4473000" cy="411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(Pareto PDF):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Power Law Decay. Outliers are structural. A single 10s request delays 100 normal requests.</a:t>
            </a:r>
            <a:endParaRPr sz="1100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α (alpha): Shape parameter (controls "heaviness" of tail)</a:t>
            </a:r>
            <a:endParaRPr sz="1000">
              <a:solidFill>
                <a:schemeClr val="dk1"/>
              </a:solidFill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Smaller α = heavier tail (more extreme values)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α = 2.1: Very heavy tail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α = 2.5: Moderate tail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α = 3.0: Light tail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k: Scale parameter (minimum service time)</a:t>
            </a:r>
            <a:endParaRPr sz="1000">
              <a:solidFill>
                <a:schemeClr val="dk1"/>
              </a:solidFill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service times are ≥ k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b="1">
                <a:solidFill>
                  <a:schemeClr val="dk1"/>
                </a:solidFill>
              </a:rPr>
              <a:t>Intuitive explanation:</a:t>
            </a:r>
            <a:endParaRPr sz="1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The Pareto distribution follows the </a:t>
            </a:r>
            <a:r>
              <a:rPr lang="en-GB" sz="1000" b="1">
                <a:solidFill>
                  <a:schemeClr val="dk1"/>
                </a:solidFill>
              </a:rPr>
              <a:t>80-20 rule</a:t>
            </a:r>
            <a:r>
              <a:rPr lang="en-GB" sz="1000">
                <a:solidFill>
                  <a:schemeClr val="dk1"/>
                </a:solidFill>
              </a:rPr>
              <a:t> (Pareto principle):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80% of requests finish quickly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20% take much longer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379" name="Google Shape;379;p49"/>
          <p:cNvSpPr txBox="1"/>
          <p:nvPr/>
        </p:nvSpPr>
        <p:spPr>
          <a:xfrm>
            <a:off x="4807850" y="680350"/>
            <a:ext cx="4354200" cy="42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E0E0C"/>
                </a:solidFill>
              </a:rPr>
              <a:t>Variance (C2)</a:t>
            </a:r>
            <a:endParaRPr b="1">
              <a:solidFill>
                <a:srgbClr val="0E0E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0E0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b="1">
                <a:solidFill>
                  <a:schemeClr val="dk1"/>
                </a:solidFill>
              </a:rPr>
              <a:t>Step 1: The Mean is Deceptive</a:t>
            </a:r>
            <a:endParaRPr sz="1000" b="1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Equation 7:</a:t>
            </a:r>
            <a:br>
              <a:rPr lang="en-GB" sz="1000">
                <a:solidFill>
                  <a:schemeClr val="dk1"/>
                </a:solidFill>
              </a:rPr>
            </a:br>
            <a:br>
              <a:rPr lang="en-GB" sz="1000">
                <a:solidFill>
                  <a:schemeClr val="dk1"/>
                </a:solidFill>
              </a:rPr>
            </a:br>
            <a:r>
              <a:rPr lang="en-GB" sz="1000">
                <a:solidFill>
                  <a:schemeClr val="dk1"/>
                </a:solidFill>
              </a:rPr>
              <a:t>E[S] = αk/α − 1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1">
                <a:solidFill>
                  <a:schemeClr val="dk1"/>
                </a:solidFill>
              </a:rPr>
              <a:t>Context:</a:t>
            </a:r>
            <a:r>
              <a:rPr lang="en-GB" sz="1000">
                <a:solidFill>
                  <a:schemeClr val="dk1"/>
                </a:solidFill>
              </a:rPr>
              <a:t> "We calibrate Pareto to have the </a:t>
            </a:r>
            <a:r>
              <a:rPr lang="en-GB" sz="1000" i="1">
                <a:solidFill>
                  <a:schemeClr val="dk1"/>
                </a:solidFill>
              </a:rPr>
              <a:t>same mean</a:t>
            </a:r>
            <a:r>
              <a:rPr lang="en-GB" sz="1000">
                <a:solidFill>
                  <a:schemeClr val="dk1"/>
                </a:solidFill>
              </a:rPr>
              <a:t> as Exponential (μ = 10). On average, they look identical."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b="1">
                <a:solidFill>
                  <a:schemeClr val="dk1"/>
                </a:solidFill>
              </a:rPr>
              <a:t>Step 2: The Variance Explodes</a:t>
            </a:r>
            <a:endParaRPr sz="1000" b="1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1">
                <a:solidFill>
                  <a:schemeClr val="dk1"/>
                </a:solidFill>
              </a:rPr>
              <a:t>Equation 9 (Coefficient of Variation):</a:t>
            </a:r>
            <a:br>
              <a:rPr lang="en-GB" sz="1000">
                <a:solidFill>
                  <a:schemeClr val="dk1"/>
                </a:solidFill>
              </a:rPr>
            </a:br>
            <a:br>
              <a:rPr lang="en-GB" sz="1000">
                <a:solidFill>
                  <a:schemeClr val="dk1"/>
                </a:solidFill>
              </a:rPr>
            </a:br>
            <a:r>
              <a:rPr lang="en-GB" sz="1000">
                <a:solidFill>
                  <a:schemeClr val="dk1"/>
                </a:solidFill>
              </a:rPr>
              <a:t>C2 = 1/α(α − 2) f or α &gt; 2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</a:rPr>
              <a:t>Data Point:</a:t>
            </a:r>
            <a:endParaRPr sz="1000" b="1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Exponential: C2 = 1 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Pareto (α = 2.1): C2 ≈ 47.6!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While the means are identical, the Coefficient of Variation ($C^2$) for a heavy-tailed workload is nearly </a:t>
            </a:r>
            <a:r>
              <a:rPr lang="en-GB" sz="1100" b="1">
                <a:solidFill>
                  <a:schemeClr val="dk1"/>
                </a:solidFill>
              </a:rPr>
              <a:t>50x higher</a:t>
            </a:r>
            <a:r>
              <a:rPr lang="en-GB" sz="1100">
                <a:solidFill>
                  <a:schemeClr val="dk1"/>
                </a:solidFill>
              </a:rPr>
              <a:t> than the exponential baseline. This variance is invisible to M/M/N models.</a:t>
            </a:r>
            <a:endParaRPr sz="1100">
              <a:solidFill>
                <a:srgbClr val="0E0E0C"/>
              </a:solidFill>
            </a:endParaRPr>
          </a:p>
        </p:txBody>
      </p:sp>
      <p:pic>
        <p:nvPicPr>
          <p:cNvPr id="380" name="Google Shape;38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663" y="1454363"/>
            <a:ext cx="1666875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0"/>
          <p:cNvSpPr txBox="1">
            <a:spLocks noGrp="1"/>
          </p:cNvSpPr>
          <p:nvPr>
            <p:ph type="title"/>
          </p:nvPr>
        </p:nvSpPr>
        <p:spPr>
          <a:xfrm>
            <a:off x="480728" y="286290"/>
            <a:ext cx="8182500" cy="4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Kingman Approximation</a:t>
            </a:r>
            <a:endParaRPr/>
          </a:p>
        </p:txBody>
      </p:sp>
      <p:sp>
        <p:nvSpPr>
          <p:cNvPr id="386" name="Google Shape;386;p50"/>
          <p:cNvSpPr txBox="1">
            <a:spLocks noGrp="1"/>
          </p:cNvSpPr>
          <p:nvPr>
            <p:ph type="body" idx="1"/>
          </p:nvPr>
        </p:nvSpPr>
        <p:spPr>
          <a:xfrm>
            <a:off x="170100" y="952500"/>
            <a:ext cx="4104900" cy="39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the Wait Time (M/G/N)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The "Crash" Calculation: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If C2 = 1 (Exponential): Multiplier is (1+1)/2 = 1. (No change).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If C2 = 47.6 (Pareto): Multiplier is (1+47.6/)2 ≈ 24.3.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Conclusion:</a:t>
            </a:r>
            <a:r>
              <a:rPr lang="en-GB" sz="1100">
                <a:solidFill>
                  <a:schemeClr val="dk1"/>
                </a:solidFill>
              </a:rPr>
              <a:t> "Theoretical Wait Time increases by </a:t>
            </a:r>
            <a:r>
              <a:rPr lang="en-GB" sz="1100" b="1">
                <a:solidFill>
                  <a:schemeClr val="dk1"/>
                </a:solidFill>
              </a:rPr>
              <a:t>2400%</a:t>
            </a:r>
            <a:r>
              <a:rPr lang="en-GB" sz="1100">
                <a:solidFill>
                  <a:schemeClr val="dk1"/>
                </a:solidFill>
              </a:rPr>
              <a:t> just by changing the distribution shape.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Using Kingman's Approximation, I calculated that introducing heavy tails should increase waiting times by factor of 24.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50"/>
          <p:cNvSpPr txBox="1"/>
          <p:nvPr/>
        </p:nvSpPr>
        <p:spPr>
          <a:xfrm>
            <a:off x="4909900" y="952500"/>
            <a:ext cx="39687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0E0C"/>
              </a:solidFill>
            </a:endParaRPr>
          </a:p>
        </p:txBody>
      </p:sp>
      <p:pic>
        <p:nvPicPr>
          <p:cNvPr id="388" name="Google Shape;38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00" y="1433800"/>
            <a:ext cx="2448975" cy="33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50" title="reality_g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3849" y="1167475"/>
            <a:ext cx="4680151" cy="280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1"/>
          <p:cNvSpPr txBox="1">
            <a:spLocks noGrp="1"/>
          </p:cNvSpPr>
          <p:nvPr>
            <p:ph type="title"/>
          </p:nvPr>
        </p:nvSpPr>
        <p:spPr>
          <a:xfrm>
            <a:off x="407353" y="117540"/>
            <a:ext cx="8182500" cy="4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Queueing</a:t>
            </a:r>
            <a:endParaRPr/>
          </a:p>
        </p:txBody>
      </p:sp>
      <p:sp>
        <p:nvSpPr>
          <p:cNvPr id="395" name="Google Shape;395;p51"/>
          <p:cNvSpPr txBox="1">
            <a:spLocks noGrp="1"/>
          </p:cNvSpPr>
          <p:nvPr>
            <p:ph type="body" idx="1"/>
          </p:nvPr>
        </p:nvSpPr>
        <p:spPr>
          <a:xfrm>
            <a:off x="493475" y="861775"/>
            <a:ext cx="7738800" cy="402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The Requirement:</a:t>
            </a:r>
            <a:r>
              <a:rPr lang="en-GB" sz="1100">
                <a:solidFill>
                  <a:schemeClr val="dk1"/>
                </a:solidFill>
              </a:rPr>
              <a:t> Real-world systems must support "Classified" or "VIP" traffic (e.g., paid subscribers, health checks) that cannot tolerate standard queue delays.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The Mechanism:</a:t>
            </a:r>
            <a:r>
              <a:rPr lang="en-GB" sz="1100">
                <a:solidFill>
                  <a:schemeClr val="dk1"/>
                </a:solidFill>
              </a:rPr>
              <a:t> Implemented a </a:t>
            </a:r>
            <a:r>
              <a:rPr lang="en-GB" sz="1100" b="1">
                <a:solidFill>
                  <a:schemeClr val="dk1"/>
                </a:solidFill>
              </a:rPr>
              <a:t>Strict Priority Queue</a:t>
            </a:r>
            <a:r>
              <a:rPr lang="en-GB" sz="1100">
                <a:solidFill>
                  <a:schemeClr val="dk1"/>
                </a:solidFill>
              </a:rPr>
              <a:t> scheduler.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Incoming requests are tagged with a priority level.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scheduler </a:t>
            </a:r>
            <a:r>
              <a:rPr lang="en-GB" sz="1100" i="1">
                <a:solidFill>
                  <a:schemeClr val="dk1"/>
                </a:solidFill>
              </a:rPr>
              <a:t>always</a:t>
            </a:r>
            <a:r>
              <a:rPr lang="en-GB" sz="1100">
                <a:solidFill>
                  <a:schemeClr val="dk1"/>
                </a:solidFill>
              </a:rPr>
              <a:t> depletes the High-Priority queue before touching the Low-Priority queue.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>
                <a:solidFill>
                  <a:schemeClr val="dk1"/>
                </a:solidFill>
              </a:rPr>
              <a:t>The Trade-off (Conservation of Work):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Result:</a:t>
            </a:r>
            <a:r>
              <a:rPr lang="en-GB" sz="1100">
                <a:solidFill>
                  <a:schemeClr val="dk1"/>
                </a:solidFill>
              </a:rPr>
              <a:t> VIP latency drops near zero.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Consequence:</a:t>
            </a:r>
            <a:r>
              <a:rPr lang="en-GB" sz="1100">
                <a:solidFill>
                  <a:schemeClr val="dk1"/>
                </a:solidFill>
              </a:rPr>
              <a:t> Standard traffic suffers </a:t>
            </a:r>
            <a:r>
              <a:rPr lang="en-GB" sz="1100" b="1">
                <a:solidFill>
                  <a:schemeClr val="dk1"/>
                </a:solidFill>
              </a:rPr>
              <a:t>Starvation</a:t>
            </a:r>
            <a:r>
              <a:rPr lang="en-GB" sz="1100">
                <a:solidFill>
                  <a:schemeClr val="dk1"/>
                </a:solidFill>
              </a:rPr>
              <a:t>. The total work in the system remains constant; we simply shifted the delay to the non-paying users.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pic>
        <p:nvPicPr>
          <p:cNvPr id="396" name="Google Shape;39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1888" y="3169325"/>
            <a:ext cx="2740225" cy="190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52" title="slide_17_reality_g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06318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53" title="slide_19_cras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52400"/>
            <a:ext cx="64515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54" title="slide_22_work_stealing.png"/>
          <p:cNvPicPr preferRelativeResize="0"/>
          <p:nvPr/>
        </p:nvPicPr>
        <p:blipFill rotWithShape="1">
          <a:blip r:embed="rId3">
            <a:alphaModFix/>
          </a:blip>
          <a:srcRect l="3709" t="-870" r="-3710" b="870"/>
          <a:stretch/>
        </p:blipFill>
        <p:spPr>
          <a:xfrm>
            <a:off x="1054975" y="171200"/>
            <a:ext cx="64515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55" title="slide_20_safety_ta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58675"/>
            <a:ext cx="8839204" cy="441960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5"/>
          <p:cNvSpPr txBox="1"/>
          <p:nvPr/>
        </p:nvSpPr>
        <p:spPr>
          <a:xfrm>
            <a:off x="1584875" y="132075"/>
            <a:ext cx="56718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E0E0C"/>
                </a:solidFill>
              </a:rPr>
              <a:t>2-Phase Commit Protocol</a:t>
            </a:r>
            <a:endParaRPr b="1">
              <a:solidFill>
                <a:srgbClr val="0E0E0C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56" title="slide_21_fairness_ta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824" y="515975"/>
            <a:ext cx="7640750" cy="4585199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6"/>
          <p:cNvSpPr txBox="1"/>
          <p:nvPr/>
        </p:nvSpPr>
        <p:spPr>
          <a:xfrm>
            <a:off x="1790325" y="73375"/>
            <a:ext cx="52977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E0E0C"/>
                </a:solidFill>
              </a:rPr>
              <a:t>Effects of FIFO Ordering</a:t>
            </a:r>
            <a:endParaRPr b="1">
              <a:solidFill>
                <a:srgbClr val="0E0E0C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57" title="slide_23_load_shedd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963" y="551475"/>
            <a:ext cx="7603226" cy="456267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7"/>
          <p:cNvSpPr txBox="1"/>
          <p:nvPr/>
        </p:nvSpPr>
        <p:spPr>
          <a:xfrm>
            <a:off x="1929725" y="88050"/>
            <a:ext cx="53049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E0E0C"/>
                </a:solidFill>
              </a:rPr>
              <a:t>Load Shedding</a:t>
            </a:r>
            <a:endParaRPr b="1">
              <a:solidFill>
                <a:srgbClr val="0E0E0C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58" title="slide_24_qos_diverge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00" y="152400"/>
            <a:ext cx="806318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181" y="1078961"/>
            <a:ext cx="733113" cy="761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37634" y="1065497"/>
            <a:ext cx="719784" cy="801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43429" y="1105890"/>
            <a:ext cx="2279316" cy="74815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9"/>
          <p:cNvSpPr/>
          <p:nvPr/>
        </p:nvSpPr>
        <p:spPr>
          <a:xfrm>
            <a:off x="2837724" y="1038569"/>
            <a:ext cx="0" cy="3380777"/>
          </a:xfrm>
          <a:custGeom>
            <a:avLst/>
            <a:gdLst/>
            <a:ahLst/>
            <a:cxnLst/>
            <a:rect l="l" t="t" r="r" b="b"/>
            <a:pathLst>
              <a:path w="120000" h="6409055" extrusionOk="0">
                <a:moveTo>
                  <a:pt x="0" y="6408603"/>
                </a:moveTo>
                <a:lnTo>
                  <a:pt x="0" y="0"/>
                </a:lnTo>
              </a:path>
            </a:pathLst>
          </a:custGeom>
          <a:noFill/>
          <a:ln w="127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443" name="Google Shape;443;p59"/>
          <p:cNvSpPr/>
          <p:nvPr/>
        </p:nvSpPr>
        <p:spPr>
          <a:xfrm>
            <a:off x="5770178" y="1038569"/>
            <a:ext cx="0" cy="3380777"/>
          </a:xfrm>
          <a:custGeom>
            <a:avLst/>
            <a:gdLst/>
            <a:ahLst/>
            <a:cxnLst/>
            <a:rect l="l" t="t" r="r" b="b"/>
            <a:pathLst>
              <a:path w="120000" h="6409055" extrusionOk="0">
                <a:moveTo>
                  <a:pt x="0" y="6408603"/>
                </a:moveTo>
                <a:lnTo>
                  <a:pt x="0" y="0"/>
                </a:lnTo>
              </a:path>
            </a:pathLst>
          </a:custGeom>
          <a:noFill/>
          <a:ln w="127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444" name="Google Shape;444;p59" descr="$PPTXTitle"/>
          <p:cNvSpPr txBox="1"/>
          <p:nvPr/>
        </p:nvSpPr>
        <p:spPr>
          <a:xfrm>
            <a:off x="231912" y="149960"/>
            <a:ext cx="7948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650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Foundational Theory to Practical Reality</a:t>
            </a:r>
            <a:endParaRPr sz="3300">
              <a:solidFill>
                <a:srgbClr val="05050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59"/>
          <p:cNvSpPr txBox="1"/>
          <p:nvPr/>
        </p:nvSpPr>
        <p:spPr>
          <a:xfrm>
            <a:off x="179568" y="2021497"/>
            <a:ext cx="2493900" cy="25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650" rIns="0" bIns="0" anchor="t" anchorCtr="0">
            <a:spAutoFit/>
          </a:bodyPr>
          <a:lstStyle/>
          <a:p>
            <a:pPr marL="12700" marR="673100" lvl="0" indent="0" algn="l" rtl="0">
              <a:lnSpc>
                <a:spcPct val="111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1615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Foundational but </a:t>
            </a:r>
            <a:r>
              <a:rPr lang="en-GB" sz="19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Idealized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99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The Li </a:t>
            </a: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et al. (2015) model provides a solid theoretical basis for message queues but relies on idealized assumptions (e.g., </a:t>
            </a:r>
            <a:r>
              <a:rPr lang="en-GB" sz="1400" b="1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M/M/N </a:t>
            </a: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queues with exponential service times) that don't capture the complexity of modern cloud workloads.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9"/>
          <p:cNvSpPr txBox="1"/>
          <p:nvPr/>
        </p:nvSpPr>
        <p:spPr>
          <a:xfrm>
            <a:off x="3082375" y="2021497"/>
            <a:ext cx="2415900" cy="25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650" rIns="0" bIns="0" anchor="t" anchorCtr="0">
            <a:spAutoFit/>
          </a:bodyPr>
          <a:lstStyle/>
          <a:p>
            <a:pPr marL="12700" marR="228600" lvl="0" indent="-12700" algn="l" rtl="0">
              <a:lnSpc>
                <a:spcPct val="111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1615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9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Modern, Validated Framework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99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We developed an extended analytical and simulation </a:t>
            </a:r>
            <a:r>
              <a:rPr lang="en-GB" sz="14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framework in Python</a:t>
            </a:r>
            <a:r>
              <a:rPr lang="en-GB" sz="1400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/S</a:t>
            </a:r>
            <a:r>
              <a:rPr lang="en-GB" sz="14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imPy </a:t>
            </a: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that incorporates </a:t>
            </a:r>
            <a:r>
              <a:rPr lang="en-GB" sz="1400" b="1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heavy-tailed workloads, </a:t>
            </a: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explicit </a:t>
            </a:r>
            <a:r>
              <a:rPr lang="en-GB" sz="1400" b="1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threading models</a:t>
            </a:r>
            <a:r>
              <a:rPr lang="en-GB" sz="1400" b="1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and validated, </a:t>
            </a:r>
            <a:r>
              <a:rPr lang="en-GB" sz="1400" b="1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advanced queueing approximations</a:t>
            </a:r>
            <a:r>
              <a:rPr lang="en-GB" sz="1400" b="1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9"/>
          <p:cNvSpPr txBox="1"/>
          <p:nvPr/>
        </p:nvSpPr>
        <p:spPr>
          <a:xfrm>
            <a:off x="6017643" y="2021497"/>
            <a:ext cx="2346900" cy="29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650" rIns="0" bIns="0" anchor="t" anchorCtr="0">
            <a:spAutoFit/>
          </a:bodyPr>
          <a:lstStyle/>
          <a:p>
            <a:pPr marL="12700" marR="127000" lvl="0" indent="0" algn="l" rtl="0">
              <a:lnSpc>
                <a:spcPct val="111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1615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Accurate, </a:t>
            </a:r>
            <a:r>
              <a:rPr lang="en-GB" sz="19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Actionable Insights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971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Our model delivers significantly </a:t>
            </a:r>
            <a:r>
              <a:rPr lang="en-GB" sz="14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more </a:t>
            </a: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accurate performance </a:t>
            </a:r>
            <a:r>
              <a:rPr lang="en-GB" sz="14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predictions, </a:t>
            </a: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especially for </a:t>
            </a:r>
            <a:r>
              <a:rPr lang="en-GB" sz="1400" b="1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tail latency (P99)</a:t>
            </a:r>
            <a:r>
              <a:rPr lang="en-GB" sz="1400" b="1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and is robust </a:t>
            </a:r>
            <a:r>
              <a:rPr lang="en-GB" sz="14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under </a:t>
            </a: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extreme conditions </a:t>
            </a:r>
            <a:r>
              <a:rPr lang="en-GB" sz="1400" b="1">
                <a:solidFill>
                  <a:srgbClr val="1615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 </a:t>
            </a:r>
            <a:r>
              <a:rPr lang="en-GB" sz="15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</a:t>
            </a:r>
            <a:r>
              <a:rPr lang="en-GB" sz="1400" b="1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0.95)</a:t>
            </a:r>
            <a:r>
              <a:rPr lang="en-GB" sz="1400" b="1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providing deeper, </a:t>
            </a:r>
            <a:r>
              <a:rPr lang="en-GB" sz="1400" b="1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more reliable insights </a:t>
            </a: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for system </a:t>
            </a:r>
            <a:r>
              <a:rPr lang="en-GB" sz="1400" b="1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design </a:t>
            </a:r>
            <a:r>
              <a:rPr lang="en-GB" sz="1400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and capacity planning.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0"/>
          <p:cNvSpPr txBox="1"/>
          <p:nvPr/>
        </p:nvSpPr>
        <p:spPr>
          <a:xfrm>
            <a:off x="2355600" y="128725"/>
            <a:ext cx="44328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>
                <a:solidFill>
                  <a:srgbClr val="0505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Takeaways</a:t>
            </a:r>
            <a:endParaRPr sz="2900" b="1">
              <a:solidFill>
                <a:srgbClr val="05050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60"/>
          <p:cNvSpPr txBox="1"/>
          <p:nvPr/>
        </p:nvSpPr>
        <p:spPr>
          <a:xfrm>
            <a:off x="-248550" y="1455825"/>
            <a:ext cx="3639900" cy="23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GB">
                <a:solidFill>
                  <a:srgbClr val="0E0E0C"/>
                </a:solidFill>
              </a:rPr>
              <a:t>● </a:t>
            </a:r>
            <a:r>
              <a:rPr lang="en-GB" sz="1100">
                <a:solidFill>
                  <a:srgbClr val="0E0E0C"/>
                </a:solidFill>
              </a:rPr>
              <a:t>Heavy-tailed distributions dominate P99 latency—standard models underestimate by 45% (Pareto α=2.1) </a:t>
            </a:r>
            <a:endParaRPr sz="1100">
              <a:solidFill>
                <a:srgbClr val="0E0E0C"/>
              </a:solidFill>
            </a:endParaRPr>
          </a:p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SzPts val="400"/>
              <a:buNone/>
            </a:pPr>
            <a:endParaRPr sz="1100">
              <a:solidFill>
                <a:srgbClr val="0E0E0C"/>
              </a:solidFill>
            </a:endParaRPr>
          </a:p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SzPts val="400"/>
              <a:buNone/>
            </a:pPr>
            <a:r>
              <a:rPr lang="en-GB" sz="1100">
                <a:solidFill>
                  <a:srgbClr val="0E0E0C"/>
                </a:solidFill>
              </a:rPr>
              <a:t>● Traffic amplification in tandem queues (Λ₂ = λ/(1-p)) validated to 0.2% error </a:t>
            </a:r>
            <a:endParaRPr sz="1100">
              <a:solidFill>
                <a:srgbClr val="0E0E0C"/>
              </a:solidFill>
            </a:endParaRPr>
          </a:p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SzPts val="400"/>
              <a:buNone/>
            </a:pPr>
            <a:endParaRPr sz="1100">
              <a:solidFill>
                <a:srgbClr val="0E0E0C"/>
              </a:solidFill>
            </a:endParaRPr>
          </a:p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SzPts val="400"/>
              <a:buNone/>
            </a:pPr>
            <a:r>
              <a:rPr lang="en-GB" sz="1100">
                <a:solidFill>
                  <a:srgbClr val="0E0E0C"/>
                </a:solidFill>
              </a:rPr>
              <a:t>● Two-phase commit adds 36% service time overhead—the "cost of safety" .</a:t>
            </a:r>
            <a:endParaRPr sz="1100">
              <a:solidFill>
                <a:srgbClr val="0E0E0C"/>
              </a:solidFill>
            </a:endParaRPr>
          </a:p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SzPts val="400"/>
              <a:buNone/>
            </a:pPr>
            <a:endParaRPr sz="1100">
              <a:solidFill>
                <a:srgbClr val="0E0E0C"/>
              </a:solidFill>
            </a:endParaRPr>
          </a:p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SzPts val="400"/>
              <a:buNone/>
            </a:pPr>
            <a:r>
              <a:rPr lang="en-GB" sz="1100">
                <a:solidFill>
                  <a:srgbClr val="0E0E0C"/>
                </a:solidFill>
              </a:rPr>
              <a:t>● Work stealing eliminates </a:t>
            </a:r>
            <a:endParaRPr sz="1100">
              <a:solidFill>
                <a:srgbClr val="0E0E0C"/>
              </a:solidFill>
            </a:endParaRPr>
          </a:p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SzPts val="400"/>
              <a:buNone/>
            </a:pPr>
            <a:r>
              <a:rPr lang="en-GB" sz="1100">
                <a:solidFill>
                  <a:srgbClr val="0E0E0C"/>
                </a:solidFill>
              </a:rPr>
              <a:t>heterogeneity bottleneck (144x latency improvement)</a:t>
            </a:r>
            <a:endParaRPr sz="1100">
              <a:solidFill>
                <a:srgbClr val="0E0E0C"/>
              </a:solidFill>
            </a:endParaRPr>
          </a:p>
        </p:txBody>
      </p:sp>
      <p:sp>
        <p:nvSpPr>
          <p:cNvPr id="454" name="Google Shape;454;p60"/>
          <p:cNvSpPr txBox="1"/>
          <p:nvPr/>
        </p:nvSpPr>
        <p:spPr>
          <a:xfrm>
            <a:off x="435000" y="1029800"/>
            <a:ext cx="2272800" cy="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E0E0C"/>
                </a:solidFill>
              </a:rPr>
              <a:t>Key Discoveries</a:t>
            </a:r>
            <a:endParaRPr b="1">
              <a:solidFill>
                <a:srgbClr val="0E0E0C"/>
              </a:solidFill>
            </a:endParaRPr>
          </a:p>
        </p:txBody>
      </p:sp>
      <p:sp>
        <p:nvSpPr>
          <p:cNvPr id="455" name="Google Shape;455;p60"/>
          <p:cNvSpPr/>
          <p:nvPr/>
        </p:nvSpPr>
        <p:spPr>
          <a:xfrm>
            <a:off x="3409124" y="1163544"/>
            <a:ext cx="0" cy="3380777"/>
          </a:xfrm>
          <a:custGeom>
            <a:avLst/>
            <a:gdLst/>
            <a:ahLst/>
            <a:cxnLst/>
            <a:rect l="l" t="t" r="r" b="b"/>
            <a:pathLst>
              <a:path w="120000" h="6409055" extrusionOk="0">
                <a:moveTo>
                  <a:pt x="0" y="6408603"/>
                </a:moveTo>
                <a:lnTo>
                  <a:pt x="0" y="0"/>
                </a:lnTo>
              </a:path>
            </a:pathLst>
          </a:custGeom>
          <a:noFill/>
          <a:ln w="127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456" name="Google Shape;456;p60"/>
          <p:cNvSpPr txBox="1"/>
          <p:nvPr/>
        </p:nvSpPr>
        <p:spPr>
          <a:xfrm>
            <a:off x="3888500" y="1029800"/>
            <a:ext cx="17844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E0E0C"/>
                </a:solidFill>
              </a:rPr>
              <a:t>For Practitioners</a:t>
            </a:r>
            <a:endParaRPr b="1">
              <a:solidFill>
                <a:srgbClr val="0E0E0C"/>
              </a:solidFill>
            </a:endParaRPr>
          </a:p>
        </p:txBody>
      </p:sp>
      <p:sp>
        <p:nvSpPr>
          <p:cNvPr id="457" name="Google Shape;457;p60"/>
          <p:cNvSpPr txBox="1"/>
          <p:nvPr/>
        </p:nvSpPr>
        <p:spPr>
          <a:xfrm>
            <a:off x="3506675" y="1455825"/>
            <a:ext cx="2663400" cy="24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E0E0C"/>
                </a:solidFill>
              </a:rPr>
              <a:t>✓ Never trust exponential assumptions for cloud workloads.</a:t>
            </a:r>
            <a:endParaRPr sz="1100">
              <a:solidFill>
                <a:srgbClr val="0E0E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E0E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E0E0C"/>
                </a:solidFill>
              </a:rPr>
              <a:t> ✓ Always measure P99, not just mean—tail latency drives SLA violations.</a:t>
            </a:r>
            <a:endParaRPr sz="1100">
              <a:solidFill>
                <a:srgbClr val="0E0E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E0E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E0E0C"/>
                </a:solidFill>
              </a:rPr>
              <a:t> ✓ Provision 2x servers for heavy-tailed workloads.</a:t>
            </a:r>
            <a:endParaRPr sz="1100">
              <a:solidFill>
                <a:srgbClr val="0E0E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E0E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E0E0C"/>
                </a:solidFill>
              </a:rPr>
              <a:t> ✓ Account for distributed consensus overhead (20-40% throughput reduction)</a:t>
            </a:r>
            <a:endParaRPr sz="1100">
              <a:solidFill>
                <a:srgbClr val="0E0E0C"/>
              </a:solidFill>
            </a:endParaRPr>
          </a:p>
        </p:txBody>
      </p:sp>
      <p:sp>
        <p:nvSpPr>
          <p:cNvPr id="458" name="Google Shape;458;p60"/>
          <p:cNvSpPr/>
          <p:nvPr/>
        </p:nvSpPr>
        <p:spPr>
          <a:xfrm>
            <a:off x="6267624" y="1172656"/>
            <a:ext cx="0" cy="3380777"/>
          </a:xfrm>
          <a:custGeom>
            <a:avLst/>
            <a:gdLst/>
            <a:ahLst/>
            <a:cxnLst/>
            <a:rect l="l" t="t" r="r" b="b"/>
            <a:pathLst>
              <a:path w="120000" h="6409055" extrusionOk="0">
                <a:moveTo>
                  <a:pt x="0" y="6408603"/>
                </a:moveTo>
                <a:lnTo>
                  <a:pt x="0" y="0"/>
                </a:lnTo>
              </a:path>
            </a:pathLst>
          </a:custGeom>
          <a:noFill/>
          <a:ln w="127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459" name="Google Shape;459;p60"/>
          <p:cNvSpPr txBox="1"/>
          <p:nvPr/>
        </p:nvSpPr>
        <p:spPr>
          <a:xfrm>
            <a:off x="6667250" y="1078700"/>
            <a:ext cx="19266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E0E0C"/>
                </a:solidFill>
              </a:rPr>
              <a:t>Future Work</a:t>
            </a:r>
            <a:endParaRPr b="1">
              <a:solidFill>
                <a:srgbClr val="0E0E0C"/>
              </a:solidFill>
            </a:endParaRPr>
          </a:p>
        </p:txBody>
      </p:sp>
      <p:sp>
        <p:nvSpPr>
          <p:cNvPr id="460" name="Google Shape;460;p60"/>
          <p:cNvSpPr txBox="1"/>
          <p:nvPr/>
        </p:nvSpPr>
        <p:spPr>
          <a:xfrm>
            <a:off x="6267625" y="1589100"/>
            <a:ext cx="2627700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E0E0C"/>
              </a:buClr>
              <a:buSzPts val="1100"/>
              <a:buChar char="●"/>
            </a:pPr>
            <a:r>
              <a:rPr lang="en-GB" sz="1100">
                <a:solidFill>
                  <a:srgbClr val="0E0E0C"/>
                </a:solidFill>
              </a:rPr>
              <a:t> Extend to Byzantine fault tolerance (PBFT) and multi-datacenter replication. </a:t>
            </a:r>
            <a:endParaRPr sz="1100">
              <a:solidFill>
                <a:srgbClr val="0E0E0C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>
            <a:spLocks noGrp="1"/>
          </p:cNvSpPr>
          <p:nvPr>
            <p:ph type="title"/>
          </p:nvPr>
        </p:nvSpPr>
        <p:spPr>
          <a:xfrm>
            <a:off x="480753" y="32215"/>
            <a:ext cx="8182500" cy="4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Demo</a:t>
            </a:r>
            <a:endParaRPr b="1"/>
          </a:p>
        </p:txBody>
      </p:sp>
      <p:sp>
        <p:nvSpPr>
          <p:cNvPr id="466" name="Google Shape;466;p61"/>
          <p:cNvSpPr txBox="1">
            <a:spLocks noGrp="1"/>
          </p:cNvSpPr>
          <p:nvPr>
            <p:ph type="body" idx="1"/>
          </p:nvPr>
        </p:nvSpPr>
        <p:spPr>
          <a:xfrm>
            <a:off x="2459891" y="4415038"/>
            <a:ext cx="39567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600" u="sng" dirty="0">
                <a:solidFill>
                  <a:schemeClr val="hlink"/>
                </a:solidFill>
                <a:hlinkClick r:id="rId3"/>
              </a:rPr>
              <a:t>github.com/hjain3004/distributed-systems-project</a:t>
            </a:r>
            <a:endParaRPr sz="1100" dirty="0"/>
          </a:p>
        </p:txBody>
      </p:sp>
      <p:pic>
        <p:nvPicPr>
          <p:cNvPr id="467" name="Google Shape;467;p61" title="273_project_demo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5150" y="508150"/>
            <a:ext cx="5713701" cy="369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2"/>
          <p:cNvSpPr txBox="1">
            <a:spLocks noGrp="1"/>
          </p:cNvSpPr>
          <p:nvPr>
            <p:ph type="title"/>
          </p:nvPr>
        </p:nvSpPr>
        <p:spPr>
          <a:xfrm>
            <a:off x="95378" y="66165"/>
            <a:ext cx="8182500" cy="4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References</a:t>
            </a:r>
            <a:endParaRPr b="1"/>
          </a:p>
        </p:txBody>
      </p:sp>
      <p:sp>
        <p:nvSpPr>
          <p:cNvPr id="473" name="Google Shape;473;p62"/>
          <p:cNvSpPr txBox="1">
            <a:spLocks noGrp="1"/>
          </p:cNvSpPr>
          <p:nvPr>
            <p:ph type="body" idx="1"/>
          </p:nvPr>
        </p:nvSpPr>
        <p:spPr>
          <a:xfrm>
            <a:off x="124725" y="624900"/>
            <a:ext cx="8790300" cy="440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3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6808"/>
              <a:buFont typeface="Arial"/>
              <a:buNone/>
            </a:pPr>
            <a:r>
              <a:rPr lang="en-GB" sz="2350">
                <a:solidFill>
                  <a:schemeClr val="dk1"/>
                </a:solidFill>
              </a:rPr>
              <a:t>[</a:t>
            </a:r>
            <a:r>
              <a:rPr lang="en-GB" sz="2907">
                <a:solidFill>
                  <a:schemeClr val="dk1"/>
                </a:solidFill>
              </a:rPr>
              <a:t>1]  J. Li, Y. Cui, and Y. Ma, "Modeling message queueing services with reliability guarantee in cloud computing environment using colored Petri nets," Mathematical Problems in Engineering, vol. 2015, Article ID 254210, 2015.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[2]  J. F. C. Kingman, "The single server queue in heavy traffic," Mathematical Proceedings of the Cambridge Philosophical Society, vol. 57, no. 4, pp. 902-904, Oct. 1961.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[3]  W. Whitt, "Approximations for the GI/G/m queue," Production and Operations Management, vol. 2, no. 2, pp. 114-161, 1993.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[4]  L. Kleinrock, Queueing Systems, Volume 1: Theory. New York: Wiley Interscience, 1975.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[5]  A. O. Allen, Probability, Statistics, and Queueing Theory with Computer Science Applications, 2nd ed. San Diego: Academic Press, 1990.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[6]  S. Coles, An Introduction to Statistical Modeling of Extreme Values. London: Springer-Verlag, 2001.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[7]  P. Barford and M. Crovella, "Generating representative Web workloads for network and server performance evaluation," in Proc. ACM SIGMETRICS    Performance Evaluation Review, vol. 26, no. 1, pp. 151-160, Jun. 1998.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	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[8]  J. Gray and L. Lamport, "Consensus on transaction commit," ACM Transactions on Database Systems (TODS), vol. 31, no. 1, pp. 133-160, Mar. 2006.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[9]  A. K. Erlang, "Solution of some problems in the theory of probabilities of significance in automatic telephone exchanges," Post Office Electrical Engineer's 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     Journal, vol. 10, pp. 189-197, 1917.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[10] J. Banks, J. S. Carson, B. L. Nelson, and D. M. Nicol, Discrete-Event System  Simulation, 4th ed. Upper Saddle River, NJ: Prentice Hall, 2005.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[11] "SimPy: Discrete event simulation for Python," SimPy Documentation, 2023. [Online]. Available: </a:t>
            </a:r>
            <a:r>
              <a:rPr lang="en-GB" sz="2907" u="sng">
                <a:solidFill>
                  <a:schemeClr val="hlink"/>
                </a:solidFill>
                <a:hlinkClick r:id="rId3"/>
              </a:rPr>
              <a:t>https://simpy.readthedocs.io/</a:t>
            </a: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endParaRPr sz="290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830"/>
              <a:buFont typeface="Arial"/>
              <a:buNone/>
            </a:pPr>
            <a:r>
              <a:rPr lang="en-GB" sz="2907">
                <a:solidFill>
                  <a:schemeClr val="dk1"/>
                </a:solidFill>
              </a:rPr>
              <a:t>[12] G. Bolch, S. Greiner, H. de Meer, and K. S. Trivedi, Queueing Networks and Markov Chains: Modeling and Performance Evaluation with Computer Science Applications, 2nd ed. Hoboken, NJ: Wiley-Interscience, 2006.</a:t>
            </a:r>
            <a:endParaRPr sz="2907">
              <a:solidFill>
                <a:schemeClr val="dk1"/>
              </a:solidFill>
            </a:endParaRPr>
          </a:p>
          <a:p>
            <a:pPr marL="0" marR="13970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9219" y="1925533"/>
            <a:ext cx="2345963" cy="64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5123" y="565639"/>
            <a:ext cx="3438968" cy="2765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3161" y="3918249"/>
            <a:ext cx="5691625" cy="627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4464</Words>
  <Application>Microsoft Macintosh PowerPoint</Application>
  <PresentationFormat>On-screen Show (16:9)</PresentationFormat>
  <Paragraphs>700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Courier New</vt:lpstr>
      <vt:lpstr>Times New Roman</vt:lpstr>
      <vt:lpstr>Simple Light</vt:lpstr>
      <vt:lpstr>Office Theme</vt:lpstr>
      <vt:lpstr>Heavy-Tailed Performance Modeling for  Cloud Message Queue Systems</vt:lpstr>
      <vt:lpstr>Agenda</vt:lpstr>
      <vt:lpstr>The Challenge of Reliable Cloud Messaging</vt:lpstr>
      <vt:lpstr>Real-World Evidence of Heavy Tails</vt:lpstr>
      <vt:lpstr>Li et al. - Base Paper Overview</vt:lpstr>
      <vt:lpstr>The Foundation: What Li et al. (2015) Established</vt:lpstr>
      <vt:lpstr>Two-Stage Tandem Queue Architecture</vt:lpstr>
      <vt:lpstr>Two-Stage Tandem Queue Architecture</vt:lpstr>
      <vt:lpstr>Methodology: SimPy Discrete-Event Simulation</vt:lpstr>
      <vt:lpstr>Validating the Baseline Mode</vt:lpstr>
      <vt:lpstr>Validating the Baseline Mode</vt:lpstr>
      <vt:lpstr>The Reality Gap: Why Modern Systems Demand More</vt:lpstr>
      <vt:lpstr>Mathematical Foundation: 15 Equations</vt:lpstr>
      <vt:lpstr>Mathematical Foundation: 15 Equations</vt:lpstr>
      <vt:lpstr>Why "Heavy Tails" Matter</vt:lpstr>
      <vt:lpstr>The "Reality Gap" in Performance</vt:lpstr>
      <vt:lpstr>CRITICAL FINDING: Tail Latency Risk </vt:lpstr>
      <vt:lpstr>Our Approach: An Extensible, Validated Modeling Framework</vt:lpstr>
      <vt:lpstr>PowerPoint Presentation</vt:lpstr>
      <vt:lpstr>Precision Matters: Validating M/G/N Approximations</vt:lpstr>
      <vt:lpstr>The Full Picture: A Leap in Modeling Capability</vt:lpstr>
      <vt:lpstr>Architecture Diagram</vt:lpstr>
      <vt:lpstr>Queuing Network Diagram</vt:lpstr>
      <vt:lpstr>Why Use Discrete-Event Simulation (DES)?</vt:lpstr>
      <vt:lpstr>Heterogeneity &amp; Resource Management</vt:lpstr>
      <vt:lpstr>Implementation of Consistency Protocols</vt:lpstr>
      <vt:lpstr>Tail Latency Analysis (Extreme Value Theory)</vt:lpstr>
      <vt:lpstr>Threading Architectures</vt:lpstr>
      <vt:lpstr>Key Discoveries Unlocked by the Enhanced Model</vt:lpstr>
      <vt:lpstr>Pareto Function and Variance</vt:lpstr>
      <vt:lpstr>Kingman Approximation</vt:lpstr>
      <vt:lpstr>Priority Queueing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Bhuvana Komati</cp:lastModifiedBy>
  <cp:revision>2</cp:revision>
  <dcterms:modified xsi:type="dcterms:W3CDTF">2025-12-11T07:26:08Z</dcterms:modified>
</cp:coreProperties>
</file>